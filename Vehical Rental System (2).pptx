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nter"/>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Inter-boldItalic.fntdata"/><Relationship Id="rId6" Type="http://schemas.openxmlformats.org/officeDocument/2006/relationships/notesMaster" Target="notesMasters/notesMaster1.xml"/><Relationship Id="rId18"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a6f0821e9_2_46: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a6f0821e9_2_46: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99" name="Google Shape;99;g3da6f0821e9_2_46: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a6f0821e9_2_54: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a6f0821e9_2_54: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109" name="Google Shape;109;g3da6f0821e9_2_54: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a6f0821e9_2_62: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da6f0821e9_2_62: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119" name="Google Shape;119;g3da6f0821e9_2_62: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a6f0821e9_2_89: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da6f0821e9_2_89: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147" name="Google Shape;147;g3da6f0821e9_2_89: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a6f0821e9_2_106: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da6f0821e9_2_106: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166" name="Google Shape;166;g3da6f0821e9_2_106: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a6f0821e9_2_126: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da6f0821e9_2_126: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188" name="Google Shape;188;g3da6f0821e9_2_126: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a6f0821e9_2_138: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da6f0821e9_2_138: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202" name="Google Shape;202;g3da6f0821e9_2_138: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a6f0821e9_2_157: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da6f0821e9_2_157: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222" name="Google Shape;222;g3da6f0821e9_2_157: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a6f0821e9_2_167: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da6f0821e9_2_167: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234" name="Google Shape;234;g3da6f0821e9_2_167: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a6f0821e9_2_190: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da6f0821e9_2_190: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259" name="Google Shape;259;g3da6f0821e9_2_190: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a6f0821e9_2_201:notes"/>
          <p:cNvSpPr/>
          <p:nvPr>
            <p:ph idx="2" type="sldImg"/>
          </p:nvPr>
        </p:nvSpPr>
        <p:spPr>
          <a:xfrm>
            <a:off x="571500" y="714375"/>
            <a:ext cx="4572000" cy="1928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3da6f0821e9_2_201:notes"/>
          <p:cNvSpPr txBox="1"/>
          <p:nvPr>
            <p:ph idx="1" type="body"/>
          </p:nvPr>
        </p:nvSpPr>
        <p:spPr>
          <a:xfrm>
            <a:off x="571500" y="2750344"/>
            <a:ext cx="4572000" cy="2250281"/>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sz="1100"/>
          </a:p>
        </p:txBody>
      </p:sp>
      <p:sp>
        <p:nvSpPr>
          <p:cNvPr id="272" name="Google Shape;272;g3da6f0821e9_2_201:notes"/>
          <p:cNvSpPr txBox="1"/>
          <p:nvPr>
            <p:ph idx="12" type="sldNum"/>
          </p:nvPr>
        </p:nvSpPr>
        <p:spPr>
          <a:xfrm>
            <a:off x="3237177" y="5428258"/>
            <a:ext cx="2476500" cy="286742"/>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1" name="Shape 51"/>
        <p:cNvGrpSpPr/>
        <p:nvPr/>
      </p:nvGrpSpPr>
      <p:grpSpPr>
        <a:xfrm>
          <a:off x="0" y="0"/>
          <a:ext cx="0" cy="0"/>
          <a:chOff x="0" y="0"/>
          <a:chExt cx="0" cy="0"/>
        </a:xfrm>
      </p:grpSpPr>
      <p:sp>
        <p:nvSpPr>
          <p:cNvPr id="52" name="Google Shape;52;p14"/>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3" name="Google Shape;53;p1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4" name="Google Shape;54;p14">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5"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57" name="Google Shape;57;p1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58" name="Google Shape;58;p15">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59" name="Shape 59"/>
        <p:cNvGrpSpPr/>
        <p:nvPr/>
      </p:nvGrpSpPr>
      <p:grpSpPr>
        <a:xfrm>
          <a:off x="0" y="0"/>
          <a:ext cx="0" cy="0"/>
          <a:chOff x="0" y="0"/>
          <a:chExt cx="0" cy="0"/>
        </a:xfrm>
      </p:grpSpPr>
      <p:sp>
        <p:nvSpPr>
          <p:cNvPr id="60" name="Google Shape;60;p16"/>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1" name="Google Shape;61;p1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62" name="Google Shape;62;p16">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63" name="Shape 63"/>
        <p:cNvGrpSpPr/>
        <p:nvPr/>
      </p:nvGrpSpPr>
      <p:grpSpPr>
        <a:xfrm>
          <a:off x="0" y="0"/>
          <a:ext cx="0" cy="0"/>
          <a:chOff x="0" y="0"/>
          <a:chExt cx="0" cy="0"/>
        </a:xfrm>
      </p:grpSpPr>
      <p:sp>
        <p:nvSpPr>
          <p:cNvPr id="64" name="Google Shape;64;p17"/>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5" name="Google Shape;65;p1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66" name="Google Shape;66;p17">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67" name="Shape 67"/>
        <p:cNvGrpSpPr/>
        <p:nvPr/>
      </p:nvGrpSpPr>
      <p:grpSpPr>
        <a:xfrm>
          <a:off x="0" y="0"/>
          <a:ext cx="0" cy="0"/>
          <a:chOff x="0" y="0"/>
          <a:chExt cx="0" cy="0"/>
        </a:xfrm>
      </p:grpSpPr>
      <p:sp>
        <p:nvSpPr>
          <p:cNvPr id="68" name="Google Shape;68;p18"/>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69" name="Google Shape;69;p1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0" name="Google Shape;70;p18">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71" name="Shape 71"/>
        <p:cNvGrpSpPr/>
        <p:nvPr/>
      </p:nvGrpSpPr>
      <p:grpSpPr>
        <a:xfrm>
          <a:off x="0" y="0"/>
          <a:ext cx="0" cy="0"/>
          <a:chOff x="0" y="0"/>
          <a:chExt cx="0" cy="0"/>
        </a:xfrm>
      </p:grpSpPr>
      <p:sp>
        <p:nvSpPr>
          <p:cNvPr id="72" name="Google Shape;72;p19"/>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3" name="Google Shape;73;p1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4" name="Google Shape;74;p19">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75" name="Shape 75"/>
        <p:cNvGrpSpPr/>
        <p:nvPr/>
      </p:nvGrpSpPr>
      <p:grpSpPr>
        <a:xfrm>
          <a:off x="0" y="0"/>
          <a:ext cx="0" cy="0"/>
          <a:chOff x="0" y="0"/>
          <a:chExt cx="0" cy="0"/>
        </a:xfrm>
      </p:grpSpPr>
      <p:sp>
        <p:nvSpPr>
          <p:cNvPr id="76" name="Google Shape;76;p20"/>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77" name="Google Shape;77;p2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78" name="Google Shape;78;p20">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79" name="Shape 79"/>
        <p:cNvGrpSpPr/>
        <p:nvPr/>
      </p:nvGrpSpPr>
      <p:grpSpPr>
        <a:xfrm>
          <a:off x="0" y="0"/>
          <a:ext cx="0" cy="0"/>
          <a:chOff x="0" y="0"/>
          <a:chExt cx="0" cy="0"/>
        </a:xfrm>
      </p:grpSpPr>
      <p:sp>
        <p:nvSpPr>
          <p:cNvPr id="80" name="Google Shape;80;p21"/>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1" name="Google Shape;81;p2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82" name="Google Shape;82;p21">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83" name="Shape 83"/>
        <p:cNvGrpSpPr/>
        <p:nvPr/>
      </p:nvGrpSpPr>
      <p:grpSpPr>
        <a:xfrm>
          <a:off x="0" y="0"/>
          <a:ext cx="0" cy="0"/>
          <a:chOff x="0" y="0"/>
          <a:chExt cx="0" cy="0"/>
        </a:xfrm>
      </p:grpSpPr>
      <p:sp>
        <p:nvSpPr>
          <p:cNvPr id="84" name="Google Shape;84;p22"/>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5" name="Google Shape;85;p2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86" name="Google Shape;86;p22">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87" name="Shape 87"/>
        <p:cNvGrpSpPr/>
        <p:nvPr/>
      </p:nvGrpSpPr>
      <p:grpSpPr>
        <a:xfrm>
          <a:off x="0" y="0"/>
          <a:ext cx="0" cy="0"/>
          <a:chOff x="0" y="0"/>
          <a:chExt cx="0" cy="0"/>
        </a:xfrm>
      </p:grpSpPr>
      <p:sp>
        <p:nvSpPr>
          <p:cNvPr id="88" name="Google Shape;88;p23"/>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89" name="Google Shape;89;p2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90" name="Google Shape;90;p23">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91" name="Shape 91"/>
        <p:cNvGrpSpPr/>
        <p:nvPr/>
      </p:nvGrpSpPr>
      <p:grpSpPr>
        <a:xfrm>
          <a:off x="0" y="0"/>
          <a:ext cx="0" cy="0"/>
          <a:chOff x="0" y="0"/>
          <a:chExt cx="0" cy="0"/>
        </a:xfrm>
      </p:grpSpPr>
      <p:sp>
        <p:nvSpPr>
          <p:cNvPr id="92" name="Google Shape;92;p24"/>
          <p:cNvSpPr/>
          <p:nvPr/>
        </p:nvSpPr>
        <p:spPr>
          <a:xfrm>
            <a:off x="0" y="0"/>
            <a:ext cx="9144000" cy="5143500"/>
          </a:xfrm>
          <a:prstGeom prst="rect">
            <a:avLst/>
          </a:prstGeom>
          <a:solidFill>
            <a:srgbClr val="F6F4F4"/>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3" name="Google Shape;93;p2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94" name="Google Shape;94;p24">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5" name="Shape 9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5.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36.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3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preencoded.png" id="101" name="Google Shape;101;p26"/>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102" name="Google Shape;102;p26"/>
          <p:cNvSpPr/>
          <p:nvPr/>
        </p:nvSpPr>
        <p:spPr>
          <a:xfrm>
            <a:off x="496119" y="232192"/>
            <a:ext cx="4598700" cy="443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Inter"/>
              <a:buNone/>
            </a:pPr>
            <a:r>
              <a:rPr b="1" i="0" lang="en" sz="2800" u="none" cap="none" strike="noStrike">
                <a:solidFill>
                  <a:srgbClr val="000000"/>
                </a:solidFill>
                <a:latin typeface="Inter"/>
                <a:ea typeface="Inter"/>
                <a:cs typeface="Inter"/>
                <a:sym typeface="Inter"/>
              </a:rPr>
              <a:t>Vehicle Rental System  </a:t>
            </a:r>
            <a:endParaRPr b="0" i="0" sz="2800" u="none" cap="none" strike="noStrike"/>
          </a:p>
        </p:txBody>
      </p:sp>
      <p:sp>
        <p:nvSpPr>
          <p:cNvPr id="103" name="Google Shape;103;p26"/>
          <p:cNvSpPr/>
          <p:nvPr/>
        </p:nvSpPr>
        <p:spPr>
          <a:xfrm>
            <a:off x="496119" y="840805"/>
            <a:ext cx="47229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A practical introduction to building console applications using structures, arrays, and modular programming in C.</a:t>
            </a:r>
            <a:endParaRPr b="0" i="0" sz="1100" u="none" cap="none" strike="noStrike"/>
          </a:p>
        </p:txBody>
      </p:sp>
      <p:sp>
        <p:nvSpPr>
          <p:cNvPr id="104" name="Google Shape;104;p26"/>
          <p:cNvSpPr txBox="1"/>
          <p:nvPr/>
        </p:nvSpPr>
        <p:spPr>
          <a:xfrm>
            <a:off x="496125" y="1459900"/>
            <a:ext cx="3000000" cy="415500"/>
          </a:xfrm>
          <a:prstGeom prst="rect">
            <a:avLst/>
          </a:prstGeom>
          <a:noFill/>
          <a:ln>
            <a:noFill/>
          </a:ln>
        </p:spPr>
        <p:txBody>
          <a:bodyPr anchorCtr="0" anchor="t" bIns="91425" lIns="91425" spcFirstLastPara="1" rIns="91425" wrap="square" tIns="91425">
            <a:spAutoFit/>
          </a:bodyPr>
          <a:lstStyle/>
          <a:p>
            <a:pPr indent="0" lvl="0" marL="0" rtl="0" algn="l">
              <a:lnSpc>
                <a:spcPct val="125531"/>
              </a:lnSpc>
              <a:spcBef>
                <a:spcPts val="0"/>
              </a:spcBef>
              <a:spcAft>
                <a:spcPts val="0"/>
              </a:spcAft>
              <a:buNone/>
            </a:pPr>
            <a:r>
              <a:rPr b="1" lang="en" sz="1500">
                <a:solidFill>
                  <a:schemeClr val="dk1"/>
                </a:solidFill>
                <a:latin typeface="Inter"/>
                <a:ea typeface="Inter"/>
                <a:cs typeface="Inter"/>
                <a:sym typeface="Inter"/>
              </a:rPr>
              <a:t>Student Details:</a:t>
            </a:r>
            <a:endParaRPr/>
          </a:p>
        </p:txBody>
      </p:sp>
      <p:sp>
        <p:nvSpPr>
          <p:cNvPr id="105" name="Google Shape;105;p26"/>
          <p:cNvSpPr txBox="1"/>
          <p:nvPr/>
        </p:nvSpPr>
        <p:spPr>
          <a:xfrm>
            <a:off x="598900" y="1875400"/>
            <a:ext cx="3000000" cy="1272000"/>
          </a:xfrm>
          <a:prstGeom prst="rect">
            <a:avLst/>
          </a:prstGeom>
          <a:noFill/>
          <a:ln>
            <a:noFill/>
          </a:ln>
        </p:spPr>
        <p:txBody>
          <a:bodyPr anchorCtr="0" anchor="t" bIns="91425" lIns="91425" spcFirstLastPara="1" rIns="91425" wrap="square" tIns="91425">
            <a:spAutoFit/>
          </a:bodyPr>
          <a:lstStyle/>
          <a:p>
            <a:pPr indent="-215900" lvl="0" marL="215900" rtl="0" algn="l">
              <a:lnSpc>
                <a:spcPct val="151612"/>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Pruthviraj Auti </a:t>
            </a:r>
            <a:endParaRPr sz="1000">
              <a:solidFill>
                <a:schemeClr val="dk1"/>
              </a:solidFill>
            </a:endParaRPr>
          </a:p>
          <a:p>
            <a:pPr indent="-215900" lvl="0" marL="215900" rtl="0" algn="l">
              <a:lnSpc>
                <a:spcPct val="151612"/>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Shreyash Raut</a:t>
            </a:r>
            <a:endParaRPr sz="1000">
              <a:solidFill>
                <a:schemeClr val="dk1"/>
              </a:solidFill>
            </a:endParaRPr>
          </a:p>
          <a:p>
            <a:pPr indent="-215900" lvl="0" marL="215900" rtl="0" algn="l">
              <a:lnSpc>
                <a:spcPct val="151612"/>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Rohan Bhilare</a:t>
            </a:r>
            <a:endParaRPr sz="1000">
              <a:solidFill>
                <a:schemeClr val="dk1"/>
              </a:solidFill>
            </a:endParaRPr>
          </a:p>
          <a:p>
            <a:pPr indent="-215900" lvl="0" marL="215900" rtl="0" algn="l">
              <a:lnSpc>
                <a:spcPct val="151612"/>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Yuraj Bisht</a:t>
            </a:r>
            <a:endParaRPr sz="1000">
              <a:solidFill>
                <a:schemeClr val="dk1"/>
              </a:solidFill>
            </a:endParaRPr>
          </a:p>
          <a:p>
            <a:pPr indent="-215900" lvl="0" marL="215900" rtl="0" algn="l">
              <a:lnSpc>
                <a:spcPct val="151612"/>
              </a:lnSpc>
              <a:spcBef>
                <a:spcPts val="0"/>
              </a:spcBef>
              <a:spcAft>
                <a:spcPts val="0"/>
              </a:spcAft>
              <a:buClr>
                <a:srgbClr val="272525"/>
              </a:buClr>
              <a:buSzPts val="1000"/>
              <a:buFont typeface="Inter"/>
              <a:buChar char="•"/>
            </a:pPr>
            <a:r>
              <a:rPr lang="en" sz="1000">
                <a:solidFill>
                  <a:srgbClr val="272525"/>
                </a:solidFill>
                <a:latin typeface="Inter"/>
                <a:ea typeface="Inter"/>
                <a:cs typeface="Inter"/>
                <a:sym typeface="Inter"/>
              </a:rPr>
              <a:t>Niddhi Chauhan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p:nvPr/>
        </p:nvSpPr>
        <p:spPr>
          <a:xfrm>
            <a:off x="449908" y="655588"/>
            <a:ext cx="3213869" cy="401687"/>
          </a:xfrm>
          <a:prstGeom prst="rect">
            <a:avLst/>
          </a:prstGeom>
          <a:noFill/>
          <a:ln>
            <a:noFill/>
          </a:ln>
        </p:spPr>
        <p:txBody>
          <a:bodyPr anchorCtr="0" anchor="t" bIns="0" lIns="0" spcFirstLastPara="1" rIns="0" wrap="square" tIns="0">
            <a:noAutofit/>
          </a:bodyPr>
          <a:lstStyle/>
          <a:p>
            <a:pPr indent="0" lvl="0" marL="0" marR="0" rtl="0" algn="l">
              <a:lnSpc>
                <a:spcPct val="126250"/>
              </a:lnSpc>
              <a:spcBef>
                <a:spcPts val="0"/>
              </a:spcBef>
              <a:spcAft>
                <a:spcPts val="0"/>
              </a:spcAft>
              <a:buClr>
                <a:srgbClr val="000000"/>
              </a:buClr>
              <a:buSzPts val="2500"/>
              <a:buFont typeface="Inter"/>
              <a:buNone/>
            </a:pPr>
            <a:r>
              <a:rPr b="1" i="0" lang="en" sz="2500" u="none" cap="none" strike="noStrike">
                <a:solidFill>
                  <a:srgbClr val="000000"/>
                </a:solidFill>
                <a:latin typeface="Inter"/>
                <a:ea typeface="Inter"/>
                <a:cs typeface="Inter"/>
                <a:sym typeface="Inter"/>
              </a:rPr>
              <a:t>Program Overview</a:t>
            </a:r>
            <a:endParaRPr b="0" i="0" sz="2500" u="none" cap="none" strike="noStrike"/>
          </a:p>
        </p:txBody>
      </p:sp>
      <p:sp>
        <p:nvSpPr>
          <p:cNvPr id="112" name="Google Shape;112;p27"/>
          <p:cNvSpPr/>
          <p:nvPr/>
        </p:nvSpPr>
        <p:spPr>
          <a:xfrm>
            <a:off x="449908" y="1336923"/>
            <a:ext cx="2681585" cy="1568649"/>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This Vehicle Rental System is a console-based application written in C that manages a fleet of rental vehicles. The program allows users to perform four main operations: adding new vehicles to the inventory, displaying all available vehicles, renting a vehicle to a customer, and returning a rented vehicle to availability.</a:t>
            </a:r>
            <a:endParaRPr b="0" i="0" sz="1000" u="none" cap="none" strike="noStrike"/>
          </a:p>
        </p:txBody>
      </p:sp>
      <p:sp>
        <p:nvSpPr>
          <p:cNvPr id="113" name="Google Shape;113;p27"/>
          <p:cNvSpPr/>
          <p:nvPr/>
        </p:nvSpPr>
        <p:spPr>
          <a:xfrm>
            <a:off x="449858" y="3323321"/>
            <a:ext cx="2681700" cy="1372500"/>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Data is stored temporarily in memory using an array of structures, meaning all information is lost when the program terminates. This makes it an excellent learning tool for understanding core programming concepts before advancing to permanent data storage.</a:t>
            </a:r>
            <a:endParaRPr b="0" i="0" sz="1000" u="none" cap="none" strike="noStrike"/>
          </a:p>
        </p:txBody>
      </p:sp>
      <p:pic>
        <p:nvPicPr>
          <p:cNvPr descr="preencoded.png" id="114" name="Google Shape;114;p27"/>
          <p:cNvPicPr preferRelativeResize="0"/>
          <p:nvPr/>
        </p:nvPicPr>
        <p:blipFill rotWithShape="1">
          <a:blip r:embed="rId3">
            <a:alphaModFix/>
          </a:blip>
          <a:srcRect b="0" l="0" r="0" t="0"/>
          <a:stretch/>
        </p:blipFill>
        <p:spPr>
          <a:xfrm>
            <a:off x="3449836" y="1395115"/>
            <a:ext cx="5248945" cy="2929608"/>
          </a:xfrm>
          <a:prstGeom prst="rect">
            <a:avLst/>
          </a:prstGeom>
          <a:noFill/>
          <a:ln>
            <a:noFill/>
          </a:ln>
        </p:spPr>
      </p:pic>
      <p:pic>
        <p:nvPicPr>
          <p:cNvPr id="115" name="Google Shape;115;p27"/>
          <p:cNvPicPr preferRelativeResize="0"/>
          <p:nvPr/>
        </p:nvPicPr>
        <p:blipFill>
          <a:blip r:embed="rId4">
            <a:alphaModFix/>
          </a:blip>
          <a:stretch>
            <a:fillRect/>
          </a:stretch>
        </p:blipFill>
        <p:spPr>
          <a:xfrm>
            <a:off x="7258051" y="4695825"/>
            <a:ext cx="1885950" cy="447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preencoded.png" id="121" name="Google Shape;121;p28"/>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122" name="Google Shape;122;p28"/>
          <p:cNvSpPr/>
          <p:nvPr/>
        </p:nvSpPr>
        <p:spPr>
          <a:xfrm>
            <a:off x="292819" y="708496"/>
            <a:ext cx="2817019" cy="2614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600"/>
              <a:buFont typeface="Inter"/>
              <a:buNone/>
            </a:pPr>
            <a:r>
              <a:rPr b="1" i="0" lang="en" sz="1600" u="none" cap="none" strike="noStrike">
                <a:solidFill>
                  <a:srgbClr val="000000"/>
                </a:solidFill>
                <a:latin typeface="Inter"/>
                <a:ea typeface="Inter"/>
                <a:cs typeface="Inter"/>
                <a:sym typeface="Inter"/>
              </a:rPr>
              <a:t>Vehicle Structure Definition</a:t>
            </a:r>
            <a:endParaRPr b="0" i="0" sz="1600" u="none" cap="none" strike="noStrike"/>
          </a:p>
        </p:txBody>
      </p:sp>
      <p:sp>
        <p:nvSpPr>
          <p:cNvPr id="123" name="Google Shape;123;p28"/>
          <p:cNvSpPr/>
          <p:nvPr/>
        </p:nvSpPr>
        <p:spPr>
          <a:xfrm>
            <a:off x="292819" y="1043955"/>
            <a:ext cx="5129361" cy="743694"/>
          </a:xfrm>
          <a:prstGeom prst="roundRect">
            <a:avLst>
              <a:gd fmla="val 4725" name="adj"/>
            </a:avLst>
          </a:prstGeom>
          <a:solidFill>
            <a:srgbClr val="DADBF1"/>
          </a:solidFill>
          <a:ln cap="flat" cmpd="sng" w="9525">
            <a:solidFill>
              <a:srgbClr val="C0C1D7"/>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24" name="Google Shape;124;p28"/>
          <p:cNvSpPr/>
          <p:nvPr/>
        </p:nvSpPr>
        <p:spPr>
          <a:xfrm>
            <a:off x="381223" y="1132359"/>
            <a:ext cx="250924" cy="250924"/>
          </a:xfrm>
          <a:prstGeom prst="roundRect">
            <a:avLst>
              <a:gd fmla="val 22773509" name="adj"/>
            </a:avLst>
          </a:prstGeom>
          <a:solidFill>
            <a:srgbClr val="4950B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25" name="Google Shape;125;p28"/>
          <p:cNvPicPr preferRelativeResize="0"/>
          <p:nvPr/>
        </p:nvPicPr>
        <p:blipFill rotWithShape="1">
          <a:blip r:embed="rId4">
            <a:alphaModFix/>
          </a:blip>
          <a:srcRect b="0" l="0" r="0" t="0"/>
          <a:stretch/>
        </p:blipFill>
        <p:spPr>
          <a:xfrm>
            <a:off x="450205" y="1201341"/>
            <a:ext cx="112886" cy="112886"/>
          </a:xfrm>
          <a:prstGeom prst="rect">
            <a:avLst/>
          </a:prstGeom>
          <a:noFill/>
          <a:ln>
            <a:noFill/>
          </a:ln>
        </p:spPr>
      </p:pic>
      <p:sp>
        <p:nvSpPr>
          <p:cNvPr id="126" name="Google Shape;126;p28"/>
          <p:cNvSpPr/>
          <p:nvPr/>
        </p:nvSpPr>
        <p:spPr>
          <a:xfrm>
            <a:off x="381223" y="1432619"/>
            <a:ext cx="1045815" cy="13067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800"/>
              <a:buFont typeface="Inter"/>
              <a:buNone/>
            </a:pPr>
            <a:r>
              <a:rPr b="1" i="0" lang="en" sz="800" u="none" cap="none" strike="noStrike">
                <a:solidFill>
                  <a:srgbClr val="272525"/>
                </a:solidFill>
                <a:latin typeface="Inter"/>
                <a:ea typeface="Inter"/>
                <a:cs typeface="Inter"/>
                <a:sym typeface="Inter"/>
              </a:rPr>
              <a:t>id</a:t>
            </a:r>
            <a:endParaRPr b="0" i="0" sz="800" u="none" cap="none" strike="noStrike"/>
          </a:p>
        </p:txBody>
      </p:sp>
      <p:sp>
        <p:nvSpPr>
          <p:cNvPr id="127" name="Google Shape;127;p28"/>
          <p:cNvSpPr/>
          <p:nvPr/>
        </p:nvSpPr>
        <p:spPr>
          <a:xfrm>
            <a:off x="381223" y="1592908"/>
            <a:ext cx="4952554" cy="10633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700"/>
              <a:buFont typeface="Inter"/>
              <a:buNone/>
            </a:pPr>
            <a:r>
              <a:rPr b="0" i="0" lang="en" sz="700" u="none" cap="none" strike="noStrike">
                <a:solidFill>
                  <a:srgbClr val="272525"/>
                </a:solidFill>
                <a:latin typeface="Inter"/>
                <a:ea typeface="Inter"/>
                <a:cs typeface="Inter"/>
                <a:sym typeface="Inter"/>
              </a:rPr>
              <a:t>Unique identifier for each vehicle</a:t>
            </a:r>
            <a:endParaRPr b="0" i="0" sz="700" u="none" cap="none" strike="noStrike"/>
          </a:p>
        </p:txBody>
      </p:sp>
      <p:sp>
        <p:nvSpPr>
          <p:cNvPr id="128" name="Google Shape;128;p28"/>
          <p:cNvSpPr/>
          <p:nvPr/>
        </p:nvSpPr>
        <p:spPr>
          <a:xfrm>
            <a:off x="292819" y="1836986"/>
            <a:ext cx="5129361" cy="743694"/>
          </a:xfrm>
          <a:prstGeom prst="roundRect">
            <a:avLst>
              <a:gd fmla="val 4725" name="adj"/>
            </a:avLst>
          </a:prstGeom>
          <a:solidFill>
            <a:srgbClr val="DADBF1"/>
          </a:solidFill>
          <a:ln cap="flat" cmpd="sng" w="9525">
            <a:solidFill>
              <a:srgbClr val="C0C1D7"/>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29" name="Google Shape;129;p28"/>
          <p:cNvSpPr/>
          <p:nvPr/>
        </p:nvSpPr>
        <p:spPr>
          <a:xfrm>
            <a:off x="381223" y="1925389"/>
            <a:ext cx="250924" cy="250924"/>
          </a:xfrm>
          <a:prstGeom prst="roundRect">
            <a:avLst>
              <a:gd fmla="val 22773509" name="adj"/>
            </a:avLst>
          </a:prstGeom>
          <a:solidFill>
            <a:srgbClr val="4950B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30" name="Google Shape;130;p28"/>
          <p:cNvPicPr preferRelativeResize="0"/>
          <p:nvPr/>
        </p:nvPicPr>
        <p:blipFill rotWithShape="1">
          <a:blip r:embed="rId4">
            <a:alphaModFix/>
          </a:blip>
          <a:srcRect b="0" l="0" r="0" t="0"/>
          <a:stretch/>
        </p:blipFill>
        <p:spPr>
          <a:xfrm>
            <a:off x="450205" y="1994371"/>
            <a:ext cx="112886" cy="112886"/>
          </a:xfrm>
          <a:prstGeom prst="rect">
            <a:avLst/>
          </a:prstGeom>
          <a:noFill/>
          <a:ln>
            <a:noFill/>
          </a:ln>
        </p:spPr>
      </p:pic>
      <p:sp>
        <p:nvSpPr>
          <p:cNvPr id="131" name="Google Shape;131;p28"/>
          <p:cNvSpPr/>
          <p:nvPr/>
        </p:nvSpPr>
        <p:spPr>
          <a:xfrm>
            <a:off x="381223" y="2225650"/>
            <a:ext cx="1045815" cy="13067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800"/>
              <a:buFont typeface="Inter"/>
              <a:buNone/>
            </a:pPr>
            <a:r>
              <a:rPr b="1" i="0" lang="en" sz="800" u="none" cap="none" strike="noStrike">
                <a:solidFill>
                  <a:srgbClr val="272525"/>
                </a:solidFill>
                <a:latin typeface="Inter"/>
                <a:ea typeface="Inter"/>
                <a:cs typeface="Inter"/>
                <a:sym typeface="Inter"/>
              </a:rPr>
              <a:t>name</a:t>
            </a:r>
            <a:endParaRPr b="0" i="0" sz="800" u="none" cap="none" strike="noStrike"/>
          </a:p>
        </p:txBody>
      </p:sp>
      <p:sp>
        <p:nvSpPr>
          <p:cNvPr id="132" name="Google Shape;132;p28"/>
          <p:cNvSpPr/>
          <p:nvPr/>
        </p:nvSpPr>
        <p:spPr>
          <a:xfrm>
            <a:off x="381223" y="2385938"/>
            <a:ext cx="4952554" cy="10633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700"/>
              <a:buFont typeface="Inter"/>
              <a:buNone/>
            </a:pPr>
            <a:r>
              <a:rPr b="0" i="0" lang="en" sz="700" u="none" cap="none" strike="noStrike">
                <a:solidFill>
                  <a:srgbClr val="272525"/>
                </a:solidFill>
                <a:latin typeface="Inter"/>
                <a:ea typeface="Inter"/>
                <a:cs typeface="Inter"/>
                <a:sym typeface="Inter"/>
              </a:rPr>
              <a:t>Vehicle name or model</a:t>
            </a:r>
            <a:endParaRPr b="0" i="0" sz="700" u="none" cap="none" strike="noStrike"/>
          </a:p>
        </p:txBody>
      </p:sp>
      <p:sp>
        <p:nvSpPr>
          <p:cNvPr id="133" name="Google Shape;133;p28"/>
          <p:cNvSpPr/>
          <p:nvPr/>
        </p:nvSpPr>
        <p:spPr>
          <a:xfrm>
            <a:off x="292819" y="2630016"/>
            <a:ext cx="5129361" cy="743694"/>
          </a:xfrm>
          <a:prstGeom prst="roundRect">
            <a:avLst>
              <a:gd fmla="val 4725" name="adj"/>
            </a:avLst>
          </a:prstGeom>
          <a:solidFill>
            <a:srgbClr val="DADBF1"/>
          </a:solidFill>
          <a:ln cap="flat" cmpd="sng" w="9525">
            <a:solidFill>
              <a:srgbClr val="C0C1D7"/>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34" name="Google Shape;134;p28"/>
          <p:cNvSpPr/>
          <p:nvPr/>
        </p:nvSpPr>
        <p:spPr>
          <a:xfrm>
            <a:off x="381223" y="2718420"/>
            <a:ext cx="250924" cy="250924"/>
          </a:xfrm>
          <a:prstGeom prst="roundRect">
            <a:avLst>
              <a:gd fmla="val 22773509" name="adj"/>
            </a:avLst>
          </a:prstGeom>
          <a:solidFill>
            <a:srgbClr val="4950B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35" name="Google Shape;135;p28"/>
          <p:cNvPicPr preferRelativeResize="0"/>
          <p:nvPr/>
        </p:nvPicPr>
        <p:blipFill rotWithShape="1">
          <a:blip r:embed="rId4">
            <a:alphaModFix/>
          </a:blip>
          <a:srcRect b="0" l="0" r="0" t="0"/>
          <a:stretch/>
        </p:blipFill>
        <p:spPr>
          <a:xfrm>
            <a:off x="450205" y="2787402"/>
            <a:ext cx="112886" cy="112886"/>
          </a:xfrm>
          <a:prstGeom prst="rect">
            <a:avLst/>
          </a:prstGeom>
          <a:noFill/>
          <a:ln>
            <a:noFill/>
          </a:ln>
        </p:spPr>
      </p:pic>
      <p:sp>
        <p:nvSpPr>
          <p:cNvPr id="136" name="Google Shape;136;p28"/>
          <p:cNvSpPr/>
          <p:nvPr/>
        </p:nvSpPr>
        <p:spPr>
          <a:xfrm>
            <a:off x="381223" y="3018681"/>
            <a:ext cx="1045815" cy="13067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800"/>
              <a:buFont typeface="Inter"/>
              <a:buNone/>
            </a:pPr>
            <a:r>
              <a:rPr b="1" i="0" lang="en" sz="800" u="none" cap="none" strike="noStrike">
                <a:solidFill>
                  <a:srgbClr val="272525"/>
                </a:solidFill>
                <a:latin typeface="Inter"/>
                <a:ea typeface="Inter"/>
                <a:cs typeface="Inter"/>
                <a:sym typeface="Inter"/>
              </a:rPr>
              <a:t>rent_per_day</a:t>
            </a:r>
            <a:endParaRPr b="0" i="0" sz="800" u="none" cap="none" strike="noStrike"/>
          </a:p>
        </p:txBody>
      </p:sp>
      <p:sp>
        <p:nvSpPr>
          <p:cNvPr id="137" name="Google Shape;137;p28"/>
          <p:cNvSpPr/>
          <p:nvPr/>
        </p:nvSpPr>
        <p:spPr>
          <a:xfrm>
            <a:off x="381223" y="3178969"/>
            <a:ext cx="4952554" cy="10633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700"/>
              <a:buFont typeface="Inter"/>
              <a:buNone/>
            </a:pPr>
            <a:r>
              <a:rPr b="0" i="0" lang="en" sz="700" u="none" cap="none" strike="noStrike">
                <a:solidFill>
                  <a:srgbClr val="272525"/>
                </a:solidFill>
                <a:latin typeface="Inter"/>
                <a:ea typeface="Inter"/>
                <a:cs typeface="Inter"/>
                <a:sym typeface="Inter"/>
              </a:rPr>
              <a:t>Daily rental cost</a:t>
            </a:r>
            <a:endParaRPr b="0" i="0" sz="700" u="none" cap="none" strike="noStrike"/>
          </a:p>
        </p:txBody>
      </p:sp>
      <p:sp>
        <p:nvSpPr>
          <p:cNvPr id="138" name="Google Shape;138;p28"/>
          <p:cNvSpPr/>
          <p:nvPr/>
        </p:nvSpPr>
        <p:spPr>
          <a:xfrm>
            <a:off x="292819" y="3423047"/>
            <a:ext cx="5129361" cy="743694"/>
          </a:xfrm>
          <a:prstGeom prst="roundRect">
            <a:avLst>
              <a:gd fmla="val 4725" name="adj"/>
            </a:avLst>
          </a:prstGeom>
          <a:solidFill>
            <a:srgbClr val="DADBF1"/>
          </a:solidFill>
          <a:ln cap="flat" cmpd="sng" w="9525">
            <a:solidFill>
              <a:srgbClr val="C0C1D7"/>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39" name="Google Shape;139;p28"/>
          <p:cNvSpPr/>
          <p:nvPr/>
        </p:nvSpPr>
        <p:spPr>
          <a:xfrm>
            <a:off x="381223" y="3511451"/>
            <a:ext cx="250924" cy="250924"/>
          </a:xfrm>
          <a:prstGeom prst="roundRect">
            <a:avLst>
              <a:gd fmla="val 22773509" name="adj"/>
            </a:avLst>
          </a:prstGeom>
          <a:solidFill>
            <a:srgbClr val="4950BC"/>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40" name="Google Shape;140;p28"/>
          <p:cNvPicPr preferRelativeResize="0"/>
          <p:nvPr/>
        </p:nvPicPr>
        <p:blipFill rotWithShape="1">
          <a:blip r:embed="rId4">
            <a:alphaModFix/>
          </a:blip>
          <a:srcRect b="0" l="0" r="0" t="0"/>
          <a:stretch/>
        </p:blipFill>
        <p:spPr>
          <a:xfrm>
            <a:off x="450205" y="3580432"/>
            <a:ext cx="112886" cy="112886"/>
          </a:xfrm>
          <a:prstGeom prst="rect">
            <a:avLst/>
          </a:prstGeom>
          <a:noFill/>
          <a:ln>
            <a:noFill/>
          </a:ln>
        </p:spPr>
      </p:pic>
      <p:sp>
        <p:nvSpPr>
          <p:cNvPr id="141" name="Google Shape;141;p28"/>
          <p:cNvSpPr/>
          <p:nvPr/>
        </p:nvSpPr>
        <p:spPr>
          <a:xfrm>
            <a:off x="381223" y="3811711"/>
            <a:ext cx="1045815" cy="13067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800"/>
              <a:buFont typeface="Inter"/>
              <a:buNone/>
            </a:pPr>
            <a:r>
              <a:rPr b="1" i="0" lang="en" sz="800" u="none" cap="none" strike="noStrike">
                <a:solidFill>
                  <a:srgbClr val="272525"/>
                </a:solidFill>
                <a:latin typeface="Inter"/>
                <a:ea typeface="Inter"/>
                <a:cs typeface="Inter"/>
                <a:sym typeface="Inter"/>
              </a:rPr>
              <a:t>isAvailable</a:t>
            </a:r>
            <a:endParaRPr b="0" i="0" sz="800" u="none" cap="none" strike="noStrike"/>
          </a:p>
        </p:txBody>
      </p:sp>
      <p:sp>
        <p:nvSpPr>
          <p:cNvPr id="142" name="Google Shape;142;p28"/>
          <p:cNvSpPr/>
          <p:nvPr/>
        </p:nvSpPr>
        <p:spPr>
          <a:xfrm>
            <a:off x="381223" y="3971999"/>
            <a:ext cx="4952554" cy="10633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700"/>
              <a:buFont typeface="Inter"/>
              <a:buNone/>
            </a:pPr>
            <a:r>
              <a:rPr b="0" i="0" lang="en" sz="700" u="none" cap="none" strike="noStrike">
                <a:solidFill>
                  <a:srgbClr val="272525"/>
                </a:solidFill>
                <a:latin typeface="Inter"/>
                <a:ea typeface="Inter"/>
                <a:cs typeface="Inter"/>
                <a:sym typeface="Inter"/>
              </a:rPr>
              <a:t>Availability status (1=available, 0=rented)</a:t>
            </a:r>
            <a:endParaRPr b="0" i="0" sz="700" u="none" cap="none" strike="noStrike"/>
          </a:p>
        </p:txBody>
      </p:sp>
      <p:sp>
        <p:nvSpPr>
          <p:cNvPr id="143" name="Google Shape;143;p28"/>
          <p:cNvSpPr/>
          <p:nvPr/>
        </p:nvSpPr>
        <p:spPr>
          <a:xfrm>
            <a:off x="292819" y="4222254"/>
            <a:ext cx="5129361" cy="21267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72525"/>
              </a:buClr>
              <a:buSzPts val="700"/>
              <a:buFont typeface="Inter"/>
              <a:buNone/>
            </a:pPr>
            <a:r>
              <a:rPr b="0" i="0" lang="en" sz="700" u="none" cap="none" strike="noStrike">
                <a:solidFill>
                  <a:srgbClr val="272525"/>
                </a:solidFill>
                <a:latin typeface="Inter"/>
                <a:ea typeface="Inter"/>
                <a:cs typeface="Inter"/>
                <a:sym typeface="Inter"/>
              </a:rPr>
              <a:t>The structure organizes vehicle data into a coherent format, making it easy to manage multiple vehicles and their properties within the program.</a:t>
            </a:r>
            <a:endParaRPr b="0" i="0" sz="7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p:nvPr/>
        </p:nvSpPr>
        <p:spPr>
          <a:xfrm>
            <a:off x="456158" y="427286"/>
            <a:ext cx="3258443" cy="407268"/>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000000"/>
              </a:buClr>
              <a:buSzPts val="2600"/>
              <a:buFont typeface="Inter"/>
              <a:buNone/>
            </a:pPr>
            <a:r>
              <a:rPr b="1" i="0" lang="en" sz="2600" u="none" cap="none" strike="noStrike">
                <a:solidFill>
                  <a:srgbClr val="000000"/>
                </a:solidFill>
                <a:latin typeface="Inter"/>
                <a:ea typeface="Inter"/>
                <a:cs typeface="Inter"/>
                <a:sym typeface="Inter"/>
              </a:rPr>
              <a:t>Global Variables</a:t>
            </a:r>
            <a:endParaRPr b="0" i="0" sz="2600" u="none" cap="none" strike="noStrike"/>
          </a:p>
        </p:txBody>
      </p:sp>
      <p:sp>
        <p:nvSpPr>
          <p:cNvPr id="150" name="Google Shape;150;p29"/>
          <p:cNvSpPr/>
          <p:nvPr/>
        </p:nvSpPr>
        <p:spPr>
          <a:xfrm>
            <a:off x="456158" y="1336253"/>
            <a:ext cx="1955081" cy="244301"/>
          </a:xfrm>
          <a:prstGeom prst="rect">
            <a:avLst/>
          </a:prstGeom>
          <a:noFill/>
          <a:ln>
            <a:noFill/>
          </a:ln>
        </p:spPr>
        <p:txBody>
          <a:bodyPr anchorCtr="0" anchor="t" bIns="0" lIns="0" spcFirstLastPara="1" rIns="0" wrap="square" tIns="0">
            <a:noAutofit/>
          </a:bodyPr>
          <a:lstStyle/>
          <a:p>
            <a:pPr indent="0" lvl="0" marL="0" marR="0" rtl="0" algn="l">
              <a:lnSpc>
                <a:spcPct val="124489"/>
              </a:lnSpc>
              <a:spcBef>
                <a:spcPts val="0"/>
              </a:spcBef>
              <a:spcAft>
                <a:spcPts val="0"/>
              </a:spcAft>
              <a:buClr>
                <a:srgbClr val="000000"/>
              </a:buClr>
              <a:buSzPts val="1500"/>
              <a:buFont typeface="Inter"/>
              <a:buNone/>
            </a:pPr>
            <a:r>
              <a:rPr b="1" i="0" lang="en" sz="1500" u="none" cap="none" strike="noStrike">
                <a:solidFill>
                  <a:srgbClr val="000000"/>
                </a:solidFill>
                <a:latin typeface="Inter"/>
                <a:ea typeface="Inter"/>
                <a:cs typeface="Inter"/>
                <a:sym typeface="Inter"/>
              </a:rPr>
              <a:t>Vehicle Array</a:t>
            </a:r>
            <a:endParaRPr b="0" i="0" sz="1500" u="none" cap="none" strike="noStrike"/>
          </a:p>
        </p:txBody>
      </p:sp>
      <p:sp>
        <p:nvSpPr>
          <p:cNvPr id="151" name="Google Shape;151;p29"/>
          <p:cNvSpPr/>
          <p:nvPr/>
        </p:nvSpPr>
        <p:spPr>
          <a:xfrm>
            <a:off x="456158" y="1715319"/>
            <a:ext cx="2674441" cy="460772"/>
          </a:xfrm>
          <a:prstGeom prst="roundRect">
            <a:avLst>
              <a:gd fmla="val 11881"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52" name="Google Shape;152;p29"/>
          <p:cNvSpPr/>
          <p:nvPr/>
        </p:nvSpPr>
        <p:spPr>
          <a:xfrm>
            <a:off x="449684" y="1715319"/>
            <a:ext cx="2687389" cy="460772"/>
          </a:xfrm>
          <a:prstGeom prst="roundRect">
            <a:avLst>
              <a:gd fmla="val 4243"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53" name="Google Shape;153;p29"/>
          <p:cNvSpPr/>
          <p:nvPr/>
        </p:nvSpPr>
        <p:spPr>
          <a:xfrm>
            <a:off x="612576" y="1845618"/>
            <a:ext cx="2361605" cy="200174"/>
          </a:xfrm>
          <a:prstGeom prst="rect">
            <a:avLst/>
          </a:prstGeom>
          <a:noFill/>
          <a:ln>
            <a:noFill/>
          </a:ln>
        </p:spPr>
        <p:txBody>
          <a:bodyPr anchorCtr="0" anchor="t" bIns="0" lIns="0" spcFirstLastPara="1" rIns="0" wrap="square" tIns="0">
            <a:noAutofit/>
          </a:bodyPr>
          <a:lstStyle/>
          <a:p>
            <a:pPr indent="0" lvl="0" marL="0" marR="0" rtl="0" algn="l">
              <a:lnSpc>
                <a:spcPct val="156250"/>
              </a:lnSpc>
              <a:spcBef>
                <a:spcPts val="0"/>
              </a:spcBef>
              <a:spcAft>
                <a:spcPts val="0"/>
              </a:spcAft>
              <a:buClr>
                <a:srgbClr val="272525"/>
              </a:buClr>
              <a:buSzPts val="1000"/>
              <a:buFont typeface="Consolas"/>
              <a:buNone/>
            </a:pPr>
            <a:r>
              <a:rPr b="0" i="0" lang="en" sz="1000" u="none" cap="none" strike="noStrike">
                <a:solidFill>
                  <a:srgbClr val="272525"/>
                </a:solidFill>
                <a:latin typeface="Consolas"/>
                <a:ea typeface="Consolas"/>
                <a:cs typeface="Consolas"/>
                <a:sym typeface="Consolas"/>
              </a:rPr>
              <a:t>Vehicle v[100];</a:t>
            </a:r>
            <a:endParaRPr b="0" i="0" sz="1000" u="none" cap="none" strike="noStrike"/>
          </a:p>
        </p:txBody>
      </p:sp>
      <p:sp>
        <p:nvSpPr>
          <p:cNvPr id="154" name="Google Shape;154;p29"/>
          <p:cNvSpPr/>
          <p:nvPr/>
        </p:nvSpPr>
        <p:spPr>
          <a:xfrm>
            <a:off x="456158" y="2310854"/>
            <a:ext cx="2674441" cy="600521"/>
          </a:xfrm>
          <a:prstGeom prst="rect">
            <a:avLst/>
          </a:prstGeom>
          <a:noFill/>
          <a:ln>
            <a:noFill/>
          </a:ln>
        </p:spPr>
        <p:txBody>
          <a:bodyPr anchorCtr="0" anchor="t" bIns="0" lIns="0" spcFirstLastPara="1" rIns="0" wrap="square" tIns="0">
            <a:noAutofit/>
          </a:bodyPr>
          <a:lstStyle/>
          <a:p>
            <a:pPr indent="0" lvl="0" marL="0" marR="0" rtl="0" algn="l">
              <a:lnSpc>
                <a:spcPct val="156250"/>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An array that can store up to 100 vehicles, with each element containing complete vehicle information.</a:t>
            </a:r>
            <a:endParaRPr b="0" i="0" sz="1000" u="none" cap="none" strike="noStrike"/>
          </a:p>
        </p:txBody>
      </p:sp>
      <p:sp>
        <p:nvSpPr>
          <p:cNvPr id="155" name="Google Shape;155;p29"/>
          <p:cNvSpPr/>
          <p:nvPr/>
        </p:nvSpPr>
        <p:spPr>
          <a:xfrm>
            <a:off x="456158" y="3031182"/>
            <a:ext cx="1955081" cy="244301"/>
          </a:xfrm>
          <a:prstGeom prst="rect">
            <a:avLst/>
          </a:prstGeom>
          <a:noFill/>
          <a:ln>
            <a:noFill/>
          </a:ln>
        </p:spPr>
        <p:txBody>
          <a:bodyPr anchorCtr="0" anchor="t" bIns="0" lIns="0" spcFirstLastPara="1" rIns="0" wrap="square" tIns="0">
            <a:noAutofit/>
          </a:bodyPr>
          <a:lstStyle/>
          <a:p>
            <a:pPr indent="0" lvl="0" marL="0" marR="0" rtl="0" algn="l">
              <a:lnSpc>
                <a:spcPct val="124489"/>
              </a:lnSpc>
              <a:spcBef>
                <a:spcPts val="0"/>
              </a:spcBef>
              <a:spcAft>
                <a:spcPts val="0"/>
              </a:spcAft>
              <a:buClr>
                <a:srgbClr val="000000"/>
              </a:buClr>
              <a:buSzPts val="1500"/>
              <a:buFont typeface="Inter"/>
              <a:buNone/>
            </a:pPr>
            <a:r>
              <a:rPr b="1" i="0" lang="en" sz="1500" u="none" cap="none" strike="noStrike">
                <a:solidFill>
                  <a:srgbClr val="000000"/>
                </a:solidFill>
                <a:latin typeface="Inter"/>
                <a:ea typeface="Inter"/>
                <a:cs typeface="Inter"/>
                <a:sym typeface="Inter"/>
              </a:rPr>
              <a:t>Count Tracker</a:t>
            </a:r>
            <a:endParaRPr b="0" i="0" sz="1500" u="none" cap="none" strike="noStrike"/>
          </a:p>
        </p:txBody>
      </p:sp>
      <p:sp>
        <p:nvSpPr>
          <p:cNvPr id="156" name="Google Shape;156;p29"/>
          <p:cNvSpPr/>
          <p:nvPr/>
        </p:nvSpPr>
        <p:spPr>
          <a:xfrm>
            <a:off x="456158" y="3410248"/>
            <a:ext cx="2674441" cy="460772"/>
          </a:xfrm>
          <a:prstGeom prst="roundRect">
            <a:avLst>
              <a:gd fmla="val 11881"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57" name="Google Shape;157;p29"/>
          <p:cNvSpPr/>
          <p:nvPr/>
        </p:nvSpPr>
        <p:spPr>
          <a:xfrm>
            <a:off x="449684" y="3410248"/>
            <a:ext cx="2687389" cy="460772"/>
          </a:xfrm>
          <a:prstGeom prst="roundRect">
            <a:avLst>
              <a:gd fmla="val 4243"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58" name="Google Shape;158;p29"/>
          <p:cNvSpPr/>
          <p:nvPr/>
        </p:nvSpPr>
        <p:spPr>
          <a:xfrm>
            <a:off x="612576" y="3540547"/>
            <a:ext cx="2361605" cy="200174"/>
          </a:xfrm>
          <a:prstGeom prst="rect">
            <a:avLst/>
          </a:prstGeom>
          <a:noFill/>
          <a:ln>
            <a:noFill/>
          </a:ln>
        </p:spPr>
        <p:txBody>
          <a:bodyPr anchorCtr="0" anchor="t" bIns="0" lIns="0" spcFirstLastPara="1" rIns="0" wrap="square" tIns="0">
            <a:noAutofit/>
          </a:bodyPr>
          <a:lstStyle/>
          <a:p>
            <a:pPr indent="0" lvl="0" marL="0" marR="0" rtl="0" algn="l">
              <a:lnSpc>
                <a:spcPct val="156250"/>
              </a:lnSpc>
              <a:spcBef>
                <a:spcPts val="0"/>
              </a:spcBef>
              <a:spcAft>
                <a:spcPts val="0"/>
              </a:spcAft>
              <a:buClr>
                <a:srgbClr val="D73A49"/>
              </a:buClr>
              <a:buSzPts val="1000"/>
              <a:buFont typeface="Consolas"/>
              <a:buNone/>
            </a:pPr>
            <a:r>
              <a:rPr b="0" i="0" lang="en" sz="1000" u="none" cap="none" strike="noStrike">
                <a:solidFill>
                  <a:srgbClr val="D73A49"/>
                </a:solidFill>
                <a:highlight>
                  <a:srgbClr val="F2F2F2"/>
                </a:highlight>
                <a:latin typeface="Consolas"/>
                <a:ea typeface="Consolas"/>
                <a:cs typeface="Consolas"/>
                <a:sym typeface="Consolas"/>
              </a:rPr>
              <a:t>int count = 0;</a:t>
            </a:r>
            <a:endParaRPr b="0" i="0" sz="1000" u="none" cap="none" strike="noStrike"/>
          </a:p>
        </p:txBody>
      </p:sp>
      <p:sp>
        <p:nvSpPr>
          <p:cNvPr id="159" name="Google Shape;159;p29"/>
          <p:cNvSpPr/>
          <p:nvPr/>
        </p:nvSpPr>
        <p:spPr>
          <a:xfrm>
            <a:off x="456158" y="4005783"/>
            <a:ext cx="2674441" cy="400347"/>
          </a:xfrm>
          <a:prstGeom prst="rect">
            <a:avLst/>
          </a:prstGeom>
          <a:noFill/>
          <a:ln>
            <a:noFill/>
          </a:ln>
        </p:spPr>
        <p:txBody>
          <a:bodyPr anchorCtr="0" anchor="t" bIns="0" lIns="0" spcFirstLastPara="1" rIns="0" wrap="square" tIns="0">
            <a:noAutofit/>
          </a:bodyPr>
          <a:lstStyle/>
          <a:p>
            <a:pPr indent="0" lvl="0" marL="0" marR="0" rtl="0" algn="l">
              <a:lnSpc>
                <a:spcPct val="156250"/>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Keeps track of how many vehicles have been added to the system.</a:t>
            </a:r>
            <a:endParaRPr b="0" i="0" sz="1000" u="none" cap="none" strike="noStrike"/>
          </a:p>
        </p:txBody>
      </p:sp>
      <p:pic>
        <p:nvPicPr>
          <p:cNvPr descr="preencoded.png" id="160" name="Google Shape;160;p29"/>
          <p:cNvPicPr preferRelativeResize="0"/>
          <p:nvPr/>
        </p:nvPicPr>
        <p:blipFill rotWithShape="1">
          <a:blip r:embed="rId3">
            <a:alphaModFix/>
          </a:blip>
          <a:srcRect b="0" l="0" r="0" t="0"/>
          <a:stretch/>
        </p:blipFill>
        <p:spPr>
          <a:xfrm>
            <a:off x="3453259" y="1149028"/>
            <a:ext cx="5239271" cy="2924175"/>
          </a:xfrm>
          <a:prstGeom prst="rect">
            <a:avLst/>
          </a:prstGeom>
          <a:noFill/>
          <a:ln>
            <a:noFill/>
          </a:ln>
        </p:spPr>
      </p:pic>
      <p:sp>
        <p:nvSpPr>
          <p:cNvPr id="161" name="Google Shape;161;p29"/>
          <p:cNvSpPr/>
          <p:nvPr/>
        </p:nvSpPr>
        <p:spPr>
          <a:xfrm>
            <a:off x="3453259" y="4207966"/>
            <a:ext cx="5239271" cy="400347"/>
          </a:xfrm>
          <a:prstGeom prst="rect">
            <a:avLst/>
          </a:prstGeom>
          <a:noFill/>
          <a:ln>
            <a:noFill/>
          </a:ln>
        </p:spPr>
        <p:txBody>
          <a:bodyPr anchorCtr="0" anchor="t" bIns="0" lIns="0" spcFirstLastPara="1" rIns="0" wrap="square" tIns="0">
            <a:noAutofit/>
          </a:bodyPr>
          <a:lstStyle/>
          <a:p>
            <a:pPr indent="0" lvl="0" marL="0" marR="0" rtl="0" algn="l">
              <a:lnSpc>
                <a:spcPct val="156250"/>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These global variables provide the foundation for data management, allowing the program to store and access vehicle information efficiently throughout its execution.</a:t>
            </a:r>
            <a:endParaRPr b="0" i="0" sz="1000" u="none" cap="none" strike="noStrike"/>
          </a:p>
        </p:txBody>
      </p:sp>
      <p:pic>
        <p:nvPicPr>
          <p:cNvPr id="162" name="Google Shape;162;p29"/>
          <p:cNvPicPr preferRelativeResize="0"/>
          <p:nvPr/>
        </p:nvPicPr>
        <p:blipFill>
          <a:blip r:embed="rId4">
            <a:alphaModFix/>
          </a:blip>
          <a:stretch>
            <a:fillRect/>
          </a:stretch>
        </p:blipFill>
        <p:spPr>
          <a:xfrm>
            <a:off x="7258051" y="4695825"/>
            <a:ext cx="1885950" cy="447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p:nvPr/>
        </p:nvSpPr>
        <p:spPr>
          <a:xfrm>
            <a:off x="594419" y="380926"/>
            <a:ext cx="2882280" cy="3602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300"/>
              <a:buFont typeface="Inter"/>
              <a:buNone/>
            </a:pPr>
            <a:r>
              <a:rPr b="1" i="0" lang="en" sz="2300" u="none" cap="none" strike="noStrike">
                <a:solidFill>
                  <a:srgbClr val="000000"/>
                </a:solidFill>
                <a:latin typeface="Inter"/>
                <a:ea typeface="Inter"/>
                <a:cs typeface="Inter"/>
                <a:sym typeface="Inter"/>
              </a:rPr>
              <a:t>Adding Vehicles</a:t>
            </a:r>
            <a:endParaRPr b="0" i="0" sz="2300" u="none" cap="none" strike="noStrike"/>
          </a:p>
        </p:txBody>
      </p:sp>
      <p:pic>
        <p:nvPicPr>
          <p:cNvPr descr="preencoded.png" id="169" name="Google Shape;169;p30"/>
          <p:cNvPicPr preferRelativeResize="0"/>
          <p:nvPr/>
        </p:nvPicPr>
        <p:blipFill rotWithShape="1">
          <a:blip r:embed="rId3">
            <a:alphaModFix/>
          </a:blip>
          <a:srcRect b="0" l="0" r="0" t="0"/>
          <a:stretch/>
        </p:blipFill>
        <p:spPr>
          <a:xfrm>
            <a:off x="594419" y="928688"/>
            <a:ext cx="345877" cy="714375"/>
          </a:xfrm>
          <a:prstGeom prst="rect">
            <a:avLst/>
          </a:prstGeom>
          <a:noFill/>
          <a:ln>
            <a:noFill/>
          </a:ln>
        </p:spPr>
      </p:pic>
      <p:sp>
        <p:nvSpPr>
          <p:cNvPr id="170" name="Google Shape;170;p30"/>
          <p:cNvSpPr/>
          <p:nvPr/>
        </p:nvSpPr>
        <p:spPr>
          <a:xfrm>
            <a:off x="1034058" y="1043955"/>
            <a:ext cx="1441102" cy="1801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Input Collection</a:t>
            </a:r>
            <a:endParaRPr b="0" i="0" sz="1100" u="none" cap="none" strike="noStrike"/>
          </a:p>
        </p:txBody>
      </p:sp>
      <p:sp>
        <p:nvSpPr>
          <p:cNvPr id="171" name="Google Shape;171;p30"/>
          <p:cNvSpPr/>
          <p:nvPr/>
        </p:nvSpPr>
        <p:spPr>
          <a:xfrm>
            <a:off x="1034058" y="1280368"/>
            <a:ext cx="7515522" cy="167134"/>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User enters vehicle ID, name, and daily rental cost</a:t>
            </a:r>
            <a:endParaRPr b="0" i="0" sz="900" u="none" cap="none" strike="noStrike"/>
          </a:p>
        </p:txBody>
      </p:sp>
      <p:pic>
        <p:nvPicPr>
          <p:cNvPr descr="preencoded.png" id="172" name="Google Shape;172;p30"/>
          <p:cNvPicPr preferRelativeResize="0"/>
          <p:nvPr/>
        </p:nvPicPr>
        <p:blipFill rotWithShape="1">
          <a:blip r:embed="rId3">
            <a:alphaModFix/>
          </a:blip>
          <a:srcRect b="0" l="0" r="0" t="0"/>
          <a:stretch/>
        </p:blipFill>
        <p:spPr>
          <a:xfrm>
            <a:off x="767358" y="1714203"/>
            <a:ext cx="345877" cy="714375"/>
          </a:xfrm>
          <a:prstGeom prst="rect">
            <a:avLst/>
          </a:prstGeom>
          <a:noFill/>
          <a:ln>
            <a:noFill/>
          </a:ln>
        </p:spPr>
      </p:pic>
      <p:sp>
        <p:nvSpPr>
          <p:cNvPr id="173" name="Google Shape;173;p30"/>
          <p:cNvSpPr/>
          <p:nvPr/>
        </p:nvSpPr>
        <p:spPr>
          <a:xfrm>
            <a:off x="1206996" y="1829470"/>
            <a:ext cx="1441102" cy="1801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Availability Set</a:t>
            </a:r>
            <a:endParaRPr b="0" i="0" sz="1100" u="none" cap="none" strike="noStrike"/>
          </a:p>
        </p:txBody>
      </p:sp>
      <p:sp>
        <p:nvSpPr>
          <p:cNvPr id="174" name="Google Shape;174;p30"/>
          <p:cNvSpPr/>
          <p:nvPr/>
        </p:nvSpPr>
        <p:spPr>
          <a:xfrm>
            <a:off x="1206996" y="2065883"/>
            <a:ext cx="7342584" cy="167134"/>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Vehicle marked as available (isAvailable = 1)</a:t>
            </a:r>
            <a:endParaRPr b="0" i="0" sz="900" u="none" cap="none" strike="noStrike"/>
          </a:p>
        </p:txBody>
      </p:sp>
      <p:pic>
        <p:nvPicPr>
          <p:cNvPr descr="preencoded.png" id="175" name="Google Shape;175;p30"/>
          <p:cNvPicPr preferRelativeResize="0"/>
          <p:nvPr/>
        </p:nvPicPr>
        <p:blipFill rotWithShape="1">
          <a:blip r:embed="rId3">
            <a:alphaModFix/>
          </a:blip>
          <a:srcRect b="0" l="0" r="0" t="0"/>
          <a:stretch/>
        </p:blipFill>
        <p:spPr>
          <a:xfrm>
            <a:off x="940296" y="2499718"/>
            <a:ext cx="345877" cy="714375"/>
          </a:xfrm>
          <a:prstGeom prst="rect">
            <a:avLst/>
          </a:prstGeom>
          <a:noFill/>
          <a:ln>
            <a:noFill/>
          </a:ln>
        </p:spPr>
      </p:pic>
      <p:sp>
        <p:nvSpPr>
          <p:cNvPr id="176" name="Google Shape;176;p30"/>
          <p:cNvSpPr/>
          <p:nvPr/>
        </p:nvSpPr>
        <p:spPr>
          <a:xfrm>
            <a:off x="1379934" y="2614984"/>
            <a:ext cx="1441102" cy="1801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Array Storage</a:t>
            </a:r>
            <a:endParaRPr b="0" i="0" sz="1100" u="none" cap="none" strike="noStrike"/>
          </a:p>
        </p:txBody>
      </p:sp>
      <p:sp>
        <p:nvSpPr>
          <p:cNvPr id="177" name="Google Shape;177;p30"/>
          <p:cNvSpPr/>
          <p:nvPr/>
        </p:nvSpPr>
        <p:spPr>
          <a:xfrm>
            <a:off x="1379934" y="2851398"/>
            <a:ext cx="7169646" cy="167134"/>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Data stored at current count position</a:t>
            </a:r>
            <a:endParaRPr b="0" i="0" sz="900" u="none" cap="none" strike="noStrike"/>
          </a:p>
        </p:txBody>
      </p:sp>
      <p:pic>
        <p:nvPicPr>
          <p:cNvPr descr="preencoded.png" id="178" name="Google Shape;178;p30"/>
          <p:cNvPicPr preferRelativeResize="0"/>
          <p:nvPr/>
        </p:nvPicPr>
        <p:blipFill rotWithShape="1">
          <a:blip r:embed="rId3">
            <a:alphaModFix/>
          </a:blip>
          <a:srcRect b="0" l="0" r="0" t="0"/>
          <a:stretch/>
        </p:blipFill>
        <p:spPr>
          <a:xfrm>
            <a:off x="1113234" y="3285232"/>
            <a:ext cx="345877" cy="714375"/>
          </a:xfrm>
          <a:prstGeom prst="rect">
            <a:avLst/>
          </a:prstGeom>
          <a:noFill/>
          <a:ln>
            <a:noFill/>
          </a:ln>
        </p:spPr>
      </p:pic>
      <p:sp>
        <p:nvSpPr>
          <p:cNvPr id="179" name="Google Shape;179;p30"/>
          <p:cNvSpPr/>
          <p:nvPr/>
        </p:nvSpPr>
        <p:spPr>
          <a:xfrm>
            <a:off x="1552872" y="3400499"/>
            <a:ext cx="1441102" cy="1801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Counter Increment</a:t>
            </a:r>
            <a:endParaRPr b="0" i="0" sz="1100" u="none" cap="none" strike="noStrike"/>
          </a:p>
        </p:txBody>
      </p:sp>
      <p:sp>
        <p:nvSpPr>
          <p:cNvPr id="180" name="Google Shape;180;p30"/>
          <p:cNvSpPr/>
          <p:nvPr/>
        </p:nvSpPr>
        <p:spPr>
          <a:xfrm>
            <a:off x="1552873" y="3636913"/>
            <a:ext cx="6996708" cy="167134"/>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Count increases for next vehicle</a:t>
            </a:r>
            <a:endParaRPr b="0" i="0" sz="900" u="none" cap="none" strike="noStrike"/>
          </a:p>
        </p:txBody>
      </p:sp>
      <p:pic>
        <p:nvPicPr>
          <p:cNvPr descr="preencoded.png" id="181" name="Google Shape;181;p30"/>
          <p:cNvPicPr preferRelativeResize="0"/>
          <p:nvPr/>
        </p:nvPicPr>
        <p:blipFill rotWithShape="1">
          <a:blip r:embed="rId3">
            <a:alphaModFix/>
          </a:blip>
          <a:srcRect b="0" l="0" r="0" t="0"/>
          <a:stretch/>
        </p:blipFill>
        <p:spPr>
          <a:xfrm>
            <a:off x="940296" y="4070747"/>
            <a:ext cx="345877" cy="714375"/>
          </a:xfrm>
          <a:prstGeom prst="rect">
            <a:avLst/>
          </a:prstGeom>
          <a:noFill/>
          <a:ln>
            <a:noFill/>
          </a:ln>
        </p:spPr>
      </p:pic>
      <p:sp>
        <p:nvSpPr>
          <p:cNvPr id="182" name="Google Shape;182;p30"/>
          <p:cNvSpPr/>
          <p:nvPr/>
        </p:nvSpPr>
        <p:spPr>
          <a:xfrm>
            <a:off x="1379934" y="4186014"/>
            <a:ext cx="1441102" cy="1801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Success Message</a:t>
            </a:r>
            <a:endParaRPr b="0" i="0" sz="1100" u="none" cap="none" strike="noStrike"/>
          </a:p>
        </p:txBody>
      </p:sp>
      <p:sp>
        <p:nvSpPr>
          <p:cNvPr id="183" name="Google Shape;183;p30"/>
          <p:cNvSpPr/>
          <p:nvPr/>
        </p:nvSpPr>
        <p:spPr>
          <a:xfrm>
            <a:off x="1379934" y="4422427"/>
            <a:ext cx="7169646" cy="167134"/>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Confirmation displayed to user</a:t>
            </a:r>
            <a:endParaRPr b="0" i="0" sz="900" u="none" cap="none" strike="noStrike"/>
          </a:p>
        </p:txBody>
      </p:sp>
      <p:pic>
        <p:nvPicPr>
          <p:cNvPr id="184" name="Google Shape;184;p30"/>
          <p:cNvPicPr preferRelativeResize="0"/>
          <p:nvPr/>
        </p:nvPicPr>
        <p:blipFill>
          <a:blip r:embed="rId4">
            <a:alphaModFix/>
          </a:blip>
          <a:stretch>
            <a:fillRect/>
          </a:stretch>
        </p:blipFill>
        <p:spPr>
          <a:xfrm>
            <a:off x="7258051" y="4695825"/>
            <a:ext cx="1885950" cy="447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p:nvPr/>
        </p:nvSpPr>
        <p:spPr>
          <a:xfrm>
            <a:off x="1222474" y="267072"/>
            <a:ext cx="3380259" cy="303386"/>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000000"/>
              </a:buClr>
              <a:buSzPts val="1900"/>
              <a:buFont typeface="Inter"/>
              <a:buNone/>
            </a:pPr>
            <a:r>
              <a:rPr b="1" i="0" lang="en" sz="1900" u="none" cap="none" strike="noStrike">
                <a:solidFill>
                  <a:srgbClr val="000000"/>
                </a:solidFill>
                <a:latin typeface="Inter"/>
                <a:ea typeface="Inter"/>
                <a:cs typeface="Inter"/>
                <a:sym typeface="Inter"/>
              </a:rPr>
              <a:t>Displaying Vehicle Inventory</a:t>
            </a:r>
            <a:endParaRPr b="0" i="0" sz="1900" u="none" cap="none" strike="noStrike"/>
          </a:p>
        </p:txBody>
      </p:sp>
      <p:sp>
        <p:nvSpPr>
          <p:cNvPr id="191" name="Google Shape;191;p31"/>
          <p:cNvSpPr/>
          <p:nvPr/>
        </p:nvSpPr>
        <p:spPr>
          <a:xfrm>
            <a:off x="1222474" y="1970113"/>
            <a:ext cx="1456283" cy="182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100"/>
              <a:buFont typeface="Inter"/>
              <a:buNone/>
            </a:pPr>
            <a:r>
              <a:rPr b="1" i="0" lang="en" sz="1100" u="none" cap="none" strike="noStrike">
                <a:solidFill>
                  <a:srgbClr val="000000"/>
                </a:solidFill>
                <a:latin typeface="Inter"/>
                <a:ea typeface="Inter"/>
                <a:cs typeface="Inter"/>
                <a:sym typeface="Inter"/>
              </a:rPr>
              <a:t>How It Works</a:t>
            </a:r>
            <a:endParaRPr b="0" i="0" sz="1100" u="none" cap="none" strike="noStrike"/>
          </a:p>
        </p:txBody>
      </p:sp>
      <p:sp>
        <p:nvSpPr>
          <p:cNvPr id="192" name="Google Shape;192;p31"/>
          <p:cNvSpPr/>
          <p:nvPr/>
        </p:nvSpPr>
        <p:spPr>
          <a:xfrm>
            <a:off x="1222474" y="2218581"/>
            <a:ext cx="2190750" cy="1401068"/>
          </a:xfrm>
          <a:prstGeom prst="rect">
            <a:avLst/>
          </a:prstGeom>
          <a:noFill/>
          <a:ln>
            <a:noFill/>
          </a:ln>
        </p:spPr>
        <p:txBody>
          <a:bodyPr anchorCtr="0" anchor="t" bIns="0" lIns="0" spcFirstLastPara="1" rIns="0" wrap="square" tIns="0">
            <a:noAutofit/>
          </a:bodyPr>
          <a:lstStyle/>
          <a:p>
            <a:pPr indent="-215900" lvl="0" marL="215900" marR="0" rtl="0" algn="l">
              <a:lnSpc>
                <a:spcPct val="133333"/>
              </a:lnSpc>
              <a:spcBef>
                <a:spcPts val="0"/>
              </a:spcBef>
              <a:spcAft>
                <a:spcPts val="0"/>
              </a:spcAft>
              <a:buClr>
                <a:srgbClr val="272525"/>
              </a:buClr>
              <a:buSzPts val="800"/>
              <a:buFont typeface="Inter"/>
              <a:buChar char="•"/>
            </a:pPr>
            <a:r>
              <a:rPr b="0" i="0" lang="en" sz="800" u="none" cap="none" strike="noStrike">
                <a:solidFill>
                  <a:srgbClr val="272525"/>
                </a:solidFill>
                <a:latin typeface="Inter"/>
                <a:ea typeface="Inter"/>
                <a:cs typeface="Inter"/>
                <a:sym typeface="Inter"/>
              </a:rPr>
              <a:t>First checks if any vehicles exist (count == 0)</a:t>
            </a:r>
            <a:endParaRPr b="0" i="0" sz="800" u="none" cap="none" strike="noStrike"/>
          </a:p>
          <a:p>
            <a:pPr indent="-215900" lvl="0" marL="215900" marR="0" rtl="0" algn="l">
              <a:lnSpc>
                <a:spcPct val="133333"/>
              </a:lnSpc>
              <a:spcBef>
                <a:spcPts val="0"/>
              </a:spcBef>
              <a:spcAft>
                <a:spcPts val="0"/>
              </a:spcAft>
              <a:buClr>
                <a:srgbClr val="272525"/>
              </a:buClr>
              <a:buSzPts val="800"/>
              <a:buFont typeface="Inter"/>
              <a:buChar char="•"/>
            </a:pPr>
            <a:r>
              <a:rPr b="0" i="0" lang="en" sz="800" u="none" cap="none" strike="noStrike">
                <a:solidFill>
                  <a:srgbClr val="272525"/>
                </a:solidFill>
                <a:latin typeface="Inter"/>
                <a:ea typeface="Inter"/>
                <a:cs typeface="Inter"/>
                <a:sym typeface="Inter"/>
              </a:rPr>
              <a:t>If no vehicles, displays "No vehicles found" message</a:t>
            </a:r>
            <a:endParaRPr b="0" i="0" sz="800" u="none" cap="none" strike="noStrike"/>
          </a:p>
          <a:p>
            <a:pPr indent="-215900" lvl="0" marL="215900" marR="0" rtl="0" algn="l">
              <a:lnSpc>
                <a:spcPct val="133333"/>
              </a:lnSpc>
              <a:spcBef>
                <a:spcPts val="0"/>
              </a:spcBef>
              <a:spcAft>
                <a:spcPts val="0"/>
              </a:spcAft>
              <a:buClr>
                <a:srgbClr val="272525"/>
              </a:buClr>
              <a:buSzPts val="800"/>
              <a:buFont typeface="Inter"/>
              <a:buChar char="•"/>
            </a:pPr>
            <a:r>
              <a:rPr b="0" i="0" lang="en" sz="800" u="none" cap="none" strike="noStrike">
                <a:solidFill>
                  <a:srgbClr val="272525"/>
                </a:solidFill>
                <a:latin typeface="Inter"/>
                <a:ea typeface="Inter"/>
                <a:cs typeface="Inter"/>
                <a:sym typeface="Inter"/>
              </a:rPr>
              <a:t>Otherwise, iterates through array using a loop</a:t>
            </a:r>
            <a:endParaRPr b="0" i="0" sz="800" u="none" cap="none" strike="noStrike"/>
          </a:p>
          <a:p>
            <a:pPr indent="-215900" lvl="0" marL="215900" marR="0" rtl="0" algn="l">
              <a:lnSpc>
                <a:spcPct val="133333"/>
              </a:lnSpc>
              <a:spcBef>
                <a:spcPts val="0"/>
              </a:spcBef>
              <a:spcAft>
                <a:spcPts val="0"/>
              </a:spcAft>
              <a:buClr>
                <a:srgbClr val="272525"/>
              </a:buClr>
              <a:buSzPts val="800"/>
              <a:buFont typeface="Inter"/>
              <a:buChar char="•"/>
            </a:pPr>
            <a:r>
              <a:rPr b="0" i="0" lang="en" sz="800" u="none" cap="none" strike="noStrike">
                <a:solidFill>
                  <a:srgbClr val="272525"/>
                </a:solidFill>
                <a:latin typeface="Inter"/>
                <a:ea typeface="Inter"/>
                <a:cs typeface="Inter"/>
                <a:sym typeface="Inter"/>
              </a:rPr>
              <a:t>Displays ID, name, rent, and availability for each vehicle</a:t>
            </a:r>
            <a:endParaRPr b="0" i="0" sz="800" u="none" cap="none" strike="noStrike"/>
          </a:p>
          <a:p>
            <a:pPr indent="-215900" lvl="0" marL="215900" marR="0" rtl="0" algn="l">
              <a:lnSpc>
                <a:spcPct val="133333"/>
              </a:lnSpc>
              <a:spcBef>
                <a:spcPts val="0"/>
              </a:spcBef>
              <a:spcAft>
                <a:spcPts val="0"/>
              </a:spcAft>
              <a:buClr>
                <a:srgbClr val="272525"/>
              </a:buClr>
              <a:buSzPts val="800"/>
              <a:buFont typeface="Inter"/>
              <a:buChar char="•"/>
            </a:pPr>
            <a:r>
              <a:rPr b="0" i="0" lang="en" sz="800" u="none" cap="none" strike="noStrike">
                <a:solidFill>
                  <a:srgbClr val="272525"/>
                </a:solidFill>
                <a:latin typeface="Inter"/>
                <a:ea typeface="Inter"/>
                <a:cs typeface="Inter"/>
                <a:sym typeface="Inter"/>
              </a:rPr>
              <a:t>Uses ternary operator to show "Yes" or "No" for availability</a:t>
            </a:r>
            <a:endParaRPr b="0" i="0" sz="800" u="none" cap="none" strike="noStrike"/>
          </a:p>
        </p:txBody>
      </p:sp>
      <p:pic>
        <p:nvPicPr>
          <p:cNvPr descr="preencoded.png" id="193" name="Google Shape;193;p31"/>
          <p:cNvPicPr preferRelativeResize="0"/>
          <p:nvPr/>
        </p:nvPicPr>
        <p:blipFill rotWithShape="1">
          <a:blip r:embed="rId3">
            <a:alphaModFix/>
          </a:blip>
          <a:srcRect b="0" l="0" r="0" t="0"/>
          <a:stretch/>
        </p:blipFill>
        <p:spPr>
          <a:xfrm>
            <a:off x="3654772" y="744959"/>
            <a:ext cx="4271442" cy="2384003"/>
          </a:xfrm>
          <a:prstGeom prst="rect">
            <a:avLst/>
          </a:prstGeom>
          <a:noFill/>
          <a:ln>
            <a:noFill/>
          </a:ln>
        </p:spPr>
      </p:pic>
      <p:sp>
        <p:nvSpPr>
          <p:cNvPr id="194" name="Google Shape;194;p31"/>
          <p:cNvSpPr/>
          <p:nvPr/>
        </p:nvSpPr>
        <p:spPr>
          <a:xfrm>
            <a:off x="3654773" y="3203749"/>
            <a:ext cx="1213544" cy="151656"/>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000000"/>
              </a:buClr>
              <a:buSzPts val="900"/>
              <a:buFont typeface="Inter"/>
              <a:buNone/>
            </a:pPr>
            <a:r>
              <a:rPr b="1" i="0" lang="en" sz="900" u="none" cap="none" strike="noStrike">
                <a:solidFill>
                  <a:srgbClr val="000000"/>
                </a:solidFill>
                <a:latin typeface="Inter"/>
                <a:ea typeface="Inter"/>
                <a:cs typeface="Inter"/>
                <a:sym typeface="Inter"/>
              </a:rPr>
              <a:t>Sample Output</a:t>
            </a:r>
            <a:endParaRPr b="0" i="0" sz="900" u="none" cap="none" strike="noStrike"/>
          </a:p>
        </p:txBody>
      </p:sp>
      <p:sp>
        <p:nvSpPr>
          <p:cNvPr id="195" name="Google Shape;195;p31"/>
          <p:cNvSpPr/>
          <p:nvPr/>
        </p:nvSpPr>
        <p:spPr>
          <a:xfrm>
            <a:off x="3654773" y="3430191"/>
            <a:ext cx="4271442" cy="1371451"/>
          </a:xfrm>
          <a:prstGeom prst="roundRect">
            <a:avLst>
              <a:gd fmla="val 2973"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6" name="Google Shape;196;p31"/>
          <p:cNvSpPr/>
          <p:nvPr/>
        </p:nvSpPr>
        <p:spPr>
          <a:xfrm>
            <a:off x="3649936" y="3430191"/>
            <a:ext cx="4281116" cy="1371451"/>
          </a:xfrm>
          <a:prstGeom prst="roundRect">
            <a:avLst>
              <a:gd fmla="val 1062" name="adj"/>
            </a:avLst>
          </a:prstGeom>
          <a:solidFill>
            <a:srgbClr val="F2F2F2"/>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7" name="Google Shape;197;p31"/>
          <p:cNvSpPr/>
          <p:nvPr/>
        </p:nvSpPr>
        <p:spPr>
          <a:xfrm>
            <a:off x="3771225" y="3527225"/>
            <a:ext cx="4159800" cy="1480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ID: 1</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Name: Toyota Corolla</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Rent: £30/day</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Available: Yes</a:t>
            </a:r>
            <a:endParaRPr b="0" i="0" sz="800" u="none" cap="none" strike="noStrike"/>
          </a:p>
          <a:p>
            <a:pPr indent="0" lvl="0" marL="0" marR="0" rtl="0" algn="l">
              <a:lnSpc>
                <a:spcPct val="133333"/>
              </a:lnSpc>
              <a:spcBef>
                <a:spcPts val="0"/>
              </a:spcBef>
              <a:spcAft>
                <a:spcPts val="0"/>
              </a:spcAft>
              <a:buSzPts val="800"/>
              <a:buFont typeface="Arial"/>
              <a:buNone/>
            </a:pPr>
            <a:r>
              <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ID: 2</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Name: Ford Focus</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Rent: £28/day</a:t>
            </a:r>
            <a:endParaRPr b="0" i="0" sz="800" u="none" cap="none" strike="noStrike"/>
          </a:p>
          <a:p>
            <a:pPr indent="0" lvl="0" marL="0" marR="0" rtl="0" algn="l">
              <a:lnSpc>
                <a:spcPct val="133333"/>
              </a:lnSpc>
              <a:spcBef>
                <a:spcPts val="0"/>
              </a:spcBef>
              <a:spcAft>
                <a:spcPts val="0"/>
              </a:spcAft>
              <a:buClr>
                <a:srgbClr val="005CC5"/>
              </a:buClr>
              <a:buSzPts val="800"/>
              <a:buFont typeface="Consolas"/>
              <a:buNone/>
            </a:pPr>
            <a:r>
              <a:rPr b="0" i="0" lang="en" sz="800" u="none" cap="none" strike="noStrike">
                <a:solidFill>
                  <a:srgbClr val="005CC5"/>
                </a:solidFill>
                <a:highlight>
                  <a:srgbClr val="F2F2F2"/>
                </a:highlight>
                <a:latin typeface="Consolas"/>
                <a:ea typeface="Consolas"/>
                <a:cs typeface="Consolas"/>
                <a:sym typeface="Consolas"/>
              </a:rPr>
              <a:t>Available: No</a:t>
            </a:r>
            <a:endParaRPr b="0" i="0" sz="800" u="none" cap="none" strike="noStrike"/>
          </a:p>
        </p:txBody>
      </p:sp>
      <p:pic>
        <p:nvPicPr>
          <p:cNvPr id="198" name="Google Shape;198;p31"/>
          <p:cNvPicPr preferRelativeResize="0"/>
          <p:nvPr/>
        </p:nvPicPr>
        <p:blipFill>
          <a:blip r:embed="rId4">
            <a:alphaModFix/>
          </a:blip>
          <a:stretch>
            <a:fillRect/>
          </a:stretch>
        </p:blipFill>
        <p:spPr>
          <a:xfrm>
            <a:off x="7258050" y="4840125"/>
            <a:ext cx="1885950" cy="30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preencoded.png" id="204" name="Google Shape;204;p32"/>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05" name="Google Shape;205;p32"/>
          <p:cNvSpPr/>
          <p:nvPr/>
        </p:nvSpPr>
        <p:spPr>
          <a:xfrm>
            <a:off x="401985" y="219667"/>
            <a:ext cx="4386600" cy="358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300"/>
              <a:buFont typeface="Inter"/>
              <a:buNone/>
            </a:pPr>
            <a:r>
              <a:rPr b="1" i="0" lang="en" sz="2300" u="none" cap="none" strike="noStrike">
                <a:solidFill>
                  <a:srgbClr val="000000"/>
                </a:solidFill>
                <a:latin typeface="Inter"/>
                <a:ea typeface="Inter"/>
                <a:cs typeface="Inter"/>
                <a:sym typeface="Inter"/>
              </a:rPr>
              <a:t>Renting and Returning Vehicles</a:t>
            </a:r>
            <a:endParaRPr b="0" i="0" sz="2300" u="none" cap="none" strike="noStrike"/>
          </a:p>
        </p:txBody>
      </p:sp>
      <p:pic>
        <p:nvPicPr>
          <p:cNvPr descr="preencoded.png" id="206" name="Google Shape;206;p32"/>
          <p:cNvPicPr preferRelativeResize="0"/>
          <p:nvPr/>
        </p:nvPicPr>
        <p:blipFill rotWithShape="1">
          <a:blip r:embed="rId4">
            <a:alphaModFix/>
          </a:blip>
          <a:srcRect b="0" l="0" r="0" t="0"/>
          <a:stretch/>
        </p:blipFill>
        <p:spPr>
          <a:xfrm>
            <a:off x="401985" y="1140842"/>
            <a:ext cx="574253" cy="689149"/>
          </a:xfrm>
          <a:prstGeom prst="rect">
            <a:avLst/>
          </a:prstGeom>
          <a:noFill/>
          <a:ln>
            <a:noFill/>
          </a:ln>
        </p:spPr>
      </p:pic>
      <p:sp>
        <p:nvSpPr>
          <p:cNvPr id="207" name="Google Shape;207;p32"/>
          <p:cNvSpPr/>
          <p:nvPr/>
        </p:nvSpPr>
        <p:spPr>
          <a:xfrm>
            <a:off x="1069256" y="1255663"/>
            <a:ext cx="1435745" cy="1794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Search</a:t>
            </a:r>
            <a:endParaRPr b="0" i="0" sz="1100" u="none" cap="none" strike="noStrike"/>
          </a:p>
        </p:txBody>
      </p:sp>
      <p:sp>
        <p:nvSpPr>
          <p:cNvPr id="208" name="Google Shape;208;p32"/>
          <p:cNvSpPr/>
          <p:nvPr/>
        </p:nvSpPr>
        <p:spPr>
          <a:xfrm>
            <a:off x="1069256" y="1490886"/>
            <a:ext cx="4243759" cy="166316"/>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User enters vehicle ID to search array</a:t>
            </a:r>
            <a:endParaRPr b="0" i="0" sz="900" u="none" cap="none" strike="noStrike"/>
          </a:p>
        </p:txBody>
      </p:sp>
      <p:pic>
        <p:nvPicPr>
          <p:cNvPr descr="preencoded.png" id="209" name="Google Shape;209;p32"/>
          <p:cNvPicPr preferRelativeResize="0"/>
          <p:nvPr/>
        </p:nvPicPr>
        <p:blipFill rotWithShape="1">
          <a:blip r:embed="rId5">
            <a:alphaModFix/>
          </a:blip>
          <a:srcRect b="0" l="0" r="0" t="0"/>
          <a:stretch/>
        </p:blipFill>
        <p:spPr>
          <a:xfrm>
            <a:off x="401985" y="1829991"/>
            <a:ext cx="574253" cy="689149"/>
          </a:xfrm>
          <a:prstGeom prst="rect">
            <a:avLst/>
          </a:prstGeom>
          <a:noFill/>
          <a:ln>
            <a:noFill/>
          </a:ln>
        </p:spPr>
      </p:pic>
      <p:sp>
        <p:nvSpPr>
          <p:cNvPr id="210" name="Google Shape;210;p32"/>
          <p:cNvSpPr/>
          <p:nvPr/>
        </p:nvSpPr>
        <p:spPr>
          <a:xfrm>
            <a:off x="1069256" y="1944811"/>
            <a:ext cx="1435745" cy="1794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Found?</a:t>
            </a:r>
            <a:endParaRPr b="0" i="0" sz="1100" u="none" cap="none" strike="noStrike"/>
          </a:p>
        </p:txBody>
      </p:sp>
      <p:sp>
        <p:nvSpPr>
          <p:cNvPr id="211" name="Google Shape;211;p32"/>
          <p:cNvSpPr/>
          <p:nvPr/>
        </p:nvSpPr>
        <p:spPr>
          <a:xfrm>
            <a:off x="1069256" y="2180034"/>
            <a:ext cx="4243759" cy="166316"/>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Checks if ID exists in array</a:t>
            </a:r>
            <a:endParaRPr b="0" i="0" sz="900" u="none" cap="none" strike="noStrike"/>
          </a:p>
        </p:txBody>
      </p:sp>
      <p:pic>
        <p:nvPicPr>
          <p:cNvPr descr="preencoded.png" id="212" name="Google Shape;212;p32"/>
          <p:cNvPicPr preferRelativeResize="0"/>
          <p:nvPr/>
        </p:nvPicPr>
        <p:blipFill rotWithShape="1">
          <a:blip r:embed="rId6">
            <a:alphaModFix/>
          </a:blip>
          <a:srcRect b="0" l="0" r="0" t="0"/>
          <a:stretch/>
        </p:blipFill>
        <p:spPr>
          <a:xfrm>
            <a:off x="401985" y="2519139"/>
            <a:ext cx="574253" cy="689149"/>
          </a:xfrm>
          <a:prstGeom prst="rect">
            <a:avLst/>
          </a:prstGeom>
          <a:noFill/>
          <a:ln>
            <a:noFill/>
          </a:ln>
        </p:spPr>
      </p:pic>
      <p:sp>
        <p:nvSpPr>
          <p:cNvPr id="213" name="Google Shape;213;p32"/>
          <p:cNvSpPr/>
          <p:nvPr/>
        </p:nvSpPr>
        <p:spPr>
          <a:xfrm>
            <a:off x="1069256" y="2633960"/>
            <a:ext cx="1435745" cy="1794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Available?</a:t>
            </a:r>
            <a:endParaRPr b="0" i="0" sz="1100" u="none" cap="none" strike="noStrike"/>
          </a:p>
        </p:txBody>
      </p:sp>
      <p:sp>
        <p:nvSpPr>
          <p:cNvPr id="214" name="Google Shape;214;p32"/>
          <p:cNvSpPr/>
          <p:nvPr/>
        </p:nvSpPr>
        <p:spPr>
          <a:xfrm>
            <a:off x="1069256" y="2869183"/>
            <a:ext cx="4243759" cy="166316"/>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Verifies vehicle is not already rented</a:t>
            </a:r>
            <a:endParaRPr b="0" i="0" sz="900" u="none" cap="none" strike="noStrike"/>
          </a:p>
        </p:txBody>
      </p:sp>
      <p:pic>
        <p:nvPicPr>
          <p:cNvPr descr="preencoded.png" id="215" name="Google Shape;215;p32"/>
          <p:cNvPicPr preferRelativeResize="0"/>
          <p:nvPr/>
        </p:nvPicPr>
        <p:blipFill rotWithShape="1">
          <a:blip r:embed="rId7">
            <a:alphaModFix/>
          </a:blip>
          <a:srcRect b="0" l="0" r="0" t="0"/>
          <a:stretch/>
        </p:blipFill>
        <p:spPr>
          <a:xfrm>
            <a:off x="401985" y="3208288"/>
            <a:ext cx="574253" cy="689149"/>
          </a:xfrm>
          <a:prstGeom prst="rect">
            <a:avLst/>
          </a:prstGeom>
          <a:noFill/>
          <a:ln>
            <a:noFill/>
          </a:ln>
        </p:spPr>
      </p:pic>
      <p:sp>
        <p:nvSpPr>
          <p:cNvPr id="216" name="Google Shape;216;p32"/>
          <p:cNvSpPr/>
          <p:nvPr/>
        </p:nvSpPr>
        <p:spPr>
          <a:xfrm>
            <a:off x="1069256" y="3323109"/>
            <a:ext cx="1435745" cy="1794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100"/>
              <a:buFont typeface="Inter"/>
              <a:buNone/>
            </a:pPr>
            <a:r>
              <a:rPr b="1" i="0" lang="en" sz="1100" u="none" cap="none" strike="noStrike">
                <a:solidFill>
                  <a:srgbClr val="272525"/>
                </a:solidFill>
                <a:latin typeface="Inter"/>
                <a:ea typeface="Inter"/>
                <a:cs typeface="Inter"/>
                <a:sym typeface="Inter"/>
              </a:rPr>
              <a:t>Update</a:t>
            </a:r>
            <a:endParaRPr b="0" i="0" sz="1100" u="none" cap="none" strike="noStrike"/>
          </a:p>
        </p:txBody>
      </p:sp>
      <p:sp>
        <p:nvSpPr>
          <p:cNvPr id="217" name="Google Shape;217;p32"/>
          <p:cNvSpPr/>
          <p:nvPr/>
        </p:nvSpPr>
        <p:spPr>
          <a:xfrm>
            <a:off x="1069256" y="3558332"/>
            <a:ext cx="4243759" cy="166316"/>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Sets isAvailable to 0 (rented) or 1 (returned)</a:t>
            </a:r>
            <a:endParaRPr b="0" i="0" sz="900" u="none" cap="none" strike="noStrike"/>
          </a:p>
        </p:txBody>
      </p:sp>
      <p:sp>
        <p:nvSpPr>
          <p:cNvPr id="218" name="Google Shape;218;p32"/>
          <p:cNvSpPr/>
          <p:nvPr/>
        </p:nvSpPr>
        <p:spPr>
          <a:xfrm>
            <a:off x="401985" y="4002063"/>
            <a:ext cx="4911031" cy="498946"/>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272525"/>
              </a:buClr>
              <a:buSzPts val="900"/>
              <a:buFont typeface="Inter"/>
              <a:buNone/>
            </a:pPr>
            <a:r>
              <a:rPr b="0" i="0" lang="en" sz="900" u="none" cap="none" strike="noStrike">
                <a:solidFill>
                  <a:srgbClr val="272525"/>
                </a:solidFill>
                <a:latin typeface="Inter"/>
                <a:ea typeface="Inter"/>
                <a:cs typeface="Inter"/>
                <a:sym typeface="Inter"/>
              </a:rPr>
              <a:t>Both functions follow the same logic: search for the vehicle ID, validate availability status, update the flag, and provide appropriate user feedback. The return function works identically but reverses the availability status.</a:t>
            </a:r>
            <a:endParaRPr b="0" i="0" sz="9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p:nvPr/>
        </p:nvSpPr>
        <p:spPr>
          <a:xfrm>
            <a:off x="496119" y="397669"/>
            <a:ext cx="5113139" cy="44298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Inter"/>
              <a:buNone/>
            </a:pPr>
            <a:r>
              <a:rPr b="1" i="0" lang="en" sz="2800" u="none" cap="none" strike="noStrike">
                <a:solidFill>
                  <a:srgbClr val="000000"/>
                </a:solidFill>
                <a:latin typeface="Inter"/>
                <a:ea typeface="Inter"/>
                <a:cs typeface="Inter"/>
                <a:sym typeface="Inter"/>
              </a:rPr>
              <a:t>Main Menu and Program Flow</a:t>
            </a:r>
            <a:endParaRPr b="0" i="0" sz="2800" u="none" cap="none" strike="noStrike"/>
          </a:p>
        </p:txBody>
      </p:sp>
      <p:pic>
        <p:nvPicPr>
          <p:cNvPr descr="preencoded.png" id="225" name="Google Shape;225;p33"/>
          <p:cNvPicPr preferRelativeResize="0"/>
          <p:nvPr/>
        </p:nvPicPr>
        <p:blipFill rotWithShape="1">
          <a:blip r:embed="rId3">
            <a:alphaModFix/>
          </a:blip>
          <a:srcRect b="0" l="0" r="0" t="0"/>
          <a:stretch/>
        </p:blipFill>
        <p:spPr>
          <a:xfrm>
            <a:off x="496119" y="1454646"/>
            <a:ext cx="5177582" cy="2889796"/>
          </a:xfrm>
          <a:prstGeom prst="rect">
            <a:avLst/>
          </a:prstGeom>
          <a:noFill/>
          <a:ln>
            <a:noFill/>
          </a:ln>
        </p:spPr>
      </p:pic>
      <p:sp>
        <p:nvSpPr>
          <p:cNvPr id="226" name="Google Shape;226;p33"/>
          <p:cNvSpPr/>
          <p:nvPr/>
        </p:nvSpPr>
        <p:spPr>
          <a:xfrm>
            <a:off x="6024339" y="1195016"/>
            <a:ext cx="2126456" cy="265807"/>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1700"/>
              <a:buFont typeface="Inter"/>
              <a:buNone/>
            </a:pPr>
            <a:r>
              <a:rPr b="1" i="0" lang="en" sz="1700" u="none" cap="none" strike="noStrike">
                <a:solidFill>
                  <a:srgbClr val="000000"/>
                </a:solidFill>
                <a:latin typeface="Inter"/>
                <a:ea typeface="Inter"/>
                <a:cs typeface="Inter"/>
                <a:sym typeface="Inter"/>
              </a:rPr>
              <a:t>Menu Options</a:t>
            </a:r>
            <a:endParaRPr b="0" i="0" sz="1700" u="none" cap="none" strike="noStrike"/>
          </a:p>
        </p:txBody>
      </p:sp>
      <p:sp>
        <p:nvSpPr>
          <p:cNvPr id="227" name="Google Shape;227;p33"/>
          <p:cNvSpPr/>
          <p:nvPr/>
        </p:nvSpPr>
        <p:spPr>
          <a:xfrm>
            <a:off x="6024339" y="1602581"/>
            <a:ext cx="2628230" cy="1332309"/>
          </a:xfrm>
          <a:prstGeom prst="rect">
            <a:avLst/>
          </a:prstGeom>
          <a:noFill/>
          <a:ln>
            <a:noFill/>
          </a:ln>
        </p:spPr>
        <p:txBody>
          <a:bodyPr anchorCtr="0" anchor="t" bIns="0" lIns="0" spcFirstLastPara="1" rIns="0" wrap="square" tIns="0">
            <a:noAutofit/>
          </a:bodyPr>
          <a:lstStyle/>
          <a:p>
            <a:pPr indent="-222250" lvl="0" marL="215900" marR="0" rtl="0" algn="l">
              <a:lnSpc>
                <a:spcPct val="162857"/>
              </a:lnSpc>
              <a:spcBef>
                <a:spcPts val="0"/>
              </a:spcBef>
              <a:spcAft>
                <a:spcPts val="0"/>
              </a:spcAft>
              <a:buClr>
                <a:srgbClr val="272525"/>
              </a:buClr>
              <a:buSzPts val="1100"/>
              <a:buFont typeface="Calibri"/>
              <a:buAutoNum type="arabicPeriod"/>
            </a:pPr>
            <a:r>
              <a:rPr b="0" i="0" lang="en" sz="1100" u="none" cap="none" strike="noStrike">
                <a:solidFill>
                  <a:srgbClr val="272525"/>
                </a:solidFill>
                <a:latin typeface="Inter"/>
                <a:ea typeface="Inter"/>
                <a:cs typeface="Inter"/>
                <a:sym typeface="Inter"/>
              </a:rPr>
              <a:t>Add Vehicle</a:t>
            </a:r>
            <a:endParaRPr b="0" i="0" sz="1100" u="none" cap="none" strike="noStrike"/>
          </a:p>
          <a:p>
            <a:pPr indent="-222250" lvl="0" marL="215900" marR="0" rtl="0" algn="l">
              <a:lnSpc>
                <a:spcPct val="162857"/>
              </a:lnSpc>
              <a:spcBef>
                <a:spcPts val="0"/>
              </a:spcBef>
              <a:spcAft>
                <a:spcPts val="0"/>
              </a:spcAft>
              <a:buClr>
                <a:srgbClr val="272525"/>
              </a:buClr>
              <a:buSzPts val="1100"/>
              <a:buFont typeface="Calibri"/>
              <a:buAutoNum type="arabicPeriod"/>
            </a:pPr>
            <a:r>
              <a:rPr b="0" i="0" lang="en" sz="1100" u="none" cap="none" strike="noStrike">
                <a:solidFill>
                  <a:srgbClr val="272525"/>
                </a:solidFill>
                <a:latin typeface="Inter"/>
                <a:ea typeface="Inter"/>
                <a:cs typeface="Inter"/>
                <a:sym typeface="Inter"/>
              </a:rPr>
              <a:t>Display Vehicles</a:t>
            </a:r>
            <a:endParaRPr b="0" i="0" sz="1100" u="none" cap="none" strike="noStrike"/>
          </a:p>
          <a:p>
            <a:pPr indent="-222250" lvl="0" marL="215900" marR="0" rtl="0" algn="l">
              <a:lnSpc>
                <a:spcPct val="162857"/>
              </a:lnSpc>
              <a:spcBef>
                <a:spcPts val="0"/>
              </a:spcBef>
              <a:spcAft>
                <a:spcPts val="0"/>
              </a:spcAft>
              <a:buClr>
                <a:srgbClr val="272525"/>
              </a:buClr>
              <a:buSzPts val="1100"/>
              <a:buFont typeface="Calibri"/>
              <a:buAutoNum type="arabicPeriod"/>
            </a:pPr>
            <a:r>
              <a:rPr b="0" i="0" lang="en" sz="1100" u="none" cap="none" strike="noStrike">
                <a:solidFill>
                  <a:srgbClr val="272525"/>
                </a:solidFill>
                <a:latin typeface="Inter"/>
                <a:ea typeface="Inter"/>
                <a:cs typeface="Inter"/>
                <a:sym typeface="Inter"/>
              </a:rPr>
              <a:t>Rent Vehicle</a:t>
            </a:r>
            <a:endParaRPr b="0" i="0" sz="1100" u="none" cap="none" strike="noStrike"/>
          </a:p>
          <a:p>
            <a:pPr indent="-222250" lvl="0" marL="215900" marR="0" rtl="0" algn="l">
              <a:lnSpc>
                <a:spcPct val="162857"/>
              </a:lnSpc>
              <a:spcBef>
                <a:spcPts val="0"/>
              </a:spcBef>
              <a:spcAft>
                <a:spcPts val="0"/>
              </a:spcAft>
              <a:buClr>
                <a:srgbClr val="272525"/>
              </a:buClr>
              <a:buSzPts val="1100"/>
              <a:buFont typeface="Calibri"/>
              <a:buAutoNum type="arabicPeriod"/>
            </a:pPr>
            <a:r>
              <a:rPr b="0" i="0" lang="en" sz="1100" u="none" cap="none" strike="noStrike">
                <a:solidFill>
                  <a:srgbClr val="272525"/>
                </a:solidFill>
                <a:latin typeface="Inter"/>
                <a:ea typeface="Inter"/>
                <a:cs typeface="Inter"/>
                <a:sym typeface="Inter"/>
              </a:rPr>
              <a:t>Return Vehicle</a:t>
            </a:r>
            <a:endParaRPr b="0" i="0" sz="1100" u="none" cap="none" strike="noStrike"/>
          </a:p>
          <a:p>
            <a:pPr indent="-222250" lvl="0" marL="215900" marR="0" rtl="0" algn="l">
              <a:lnSpc>
                <a:spcPct val="162857"/>
              </a:lnSpc>
              <a:spcBef>
                <a:spcPts val="0"/>
              </a:spcBef>
              <a:spcAft>
                <a:spcPts val="0"/>
              </a:spcAft>
              <a:buClr>
                <a:srgbClr val="272525"/>
              </a:buClr>
              <a:buSzPts val="1100"/>
              <a:buFont typeface="Calibri"/>
              <a:buAutoNum type="arabicPeriod"/>
            </a:pPr>
            <a:r>
              <a:rPr b="0" i="0" lang="en" sz="1100" u="none" cap="none" strike="noStrike">
                <a:solidFill>
                  <a:srgbClr val="272525"/>
                </a:solidFill>
                <a:latin typeface="Inter"/>
                <a:ea typeface="Inter"/>
                <a:cs typeface="Inter"/>
                <a:sym typeface="Inter"/>
              </a:rPr>
              <a:t>Exit</a:t>
            </a:r>
            <a:endParaRPr b="0" i="0" sz="1100" u="none" cap="none" strike="noStrike"/>
          </a:p>
        </p:txBody>
      </p:sp>
      <p:sp>
        <p:nvSpPr>
          <p:cNvPr id="228" name="Google Shape;228;p33"/>
          <p:cNvSpPr/>
          <p:nvPr/>
        </p:nvSpPr>
        <p:spPr>
          <a:xfrm>
            <a:off x="6024339" y="3076649"/>
            <a:ext cx="2126456" cy="265807"/>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1700"/>
              <a:buFont typeface="Inter"/>
              <a:buNone/>
            </a:pPr>
            <a:r>
              <a:rPr b="1" i="0" lang="en" sz="1700" u="none" cap="none" strike="noStrike">
                <a:solidFill>
                  <a:srgbClr val="000000"/>
                </a:solidFill>
                <a:latin typeface="Inter"/>
                <a:ea typeface="Inter"/>
                <a:cs typeface="Inter"/>
                <a:sym typeface="Inter"/>
              </a:rPr>
              <a:t>Control Flow</a:t>
            </a:r>
            <a:endParaRPr b="0" i="0" sz="1700" u="none" cap="none" strike="noStrike"/>
          </a:p>
        </p:txBody>
      </p:sp>
      <p:sp>
        <p:nvSpPr>
          <p:cNvPr id="229" name="Google Shape;229;p33"/>
          <p:cNvSpPr/>
          <p:nvPr/>
        </p:nvSpPr>
        <p:spPr>
          <a:xfrm>
            <a:off x="6024339" y="3484215"/>
            <a:ext cx="2628230" cy="1134071"/>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The main() function uses a do-while loop to continuously display the menu until exit is chosen. A switch statement directs execution to the appropriate function based on user input.</a:t>
            </a:r>
            <a:endParaRPr b="0" i="0" sz="1100" u="none" cap="none" strike="noStrike"/>
          </a:p>
        </p:txBody>
      </p:sp>
      <p:pic>
        <p:nvPicPr>
          <p:cNvPr id="230" name="Google Shape;230;p33"/>
          <p:cNvPicPr preferRelativeResize="0"/>
          <p:nvPr/>
        </p:nvPicPr>
        <p:blipFill>
          <a:blip r:embed="rId4">
            <a:alphaModFix/>
          </a:blip>
          <a:stretch>
            <a:fillRect/>
          </a:stretch>
        </p:blipFill>
        <p:spPr>
          <a:xfrm>
            <a:off x="7258050" y="4877700"/>
            <a:ext cx="1885950" cy="26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p:nvPr/>
        </p:nvSpPr>
        <p:spPr>
          <a:xfrm>
            <a:off x="496119" y="315046"/>
            <a:ext cx="4834500" cy="4431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Inter"/>
              <a:buNone/>
            </a:pPr>
            <a:r>
              <a:rPr b="1" i="0" lang="en" sz="2800" u="none" cap="none" strike="noStrike">
                <a:solidFill>
                  <a:srgbClr val="000000"/>
                </a:solidFill>
                <a:latin typeface="Inter"/>
                <a:ea typeface="Inter"/>
                <a:cs typeface="Inter"/>
                <a:sym typeface="Inter"/>
              </a:rPr>
              <a:t>Key Programming Concepts</a:t>
            </a:r>
            <a:endParaRPr b="0" i="0" sz="2800" u="none" cap="none" strike="noStrike"/>
          </a:p>
        </p:txBody>
      </p:sp>
      <p:pic>
        <p:nvPicPr>
          <p:cNvPr descr="preencoded.png" id="237" name="Google Shape;237;p34"/>
          <p:cNvPicPr preferRelativeResize="0"/>
          <p:nvPr/>
        </p:nvPicPr>
        <p:blipFill rotWithShape="1">
          <a:blip r:embed="rId3">
            <a:alphaModFix/>
          </a:blip>
          <a:srcRect b="0" l="0" r="0" t="0"/>
          <a:stretch/>
        </p:blipFill>
        <p:spPr>
          <a:xfrm>
            <a:off x="496119" y="1511275"/>
            <a:ext cx="354360" cy="354360"/>
          </a:xfrm>
          <a:prstGeom prst="rect">
            <a:avLst/>
          </a:prstGeom>
          <a:noFill/>
          <a:ln>
            <a:noFill/>
          </a:ln>
        </p:spPr>
      </p:pic>
      <p:sp>
        <p:nvSpPr>
          <p:cNvPr id="238" name="Google Shape;238;p34"/>
          <p:cNvSpPr/>
          <p:nvPr/>
        </p:nvSpPr>
        <p:spPr>
          <a:xfrm>
            <a:off x="1027658" y="1511275"/>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Structures</a:t>
            </a:r>
            <a:endParaRPr b="0" i="0" sz="1400" u="none" cap="none" strike="noStrike"/>
          </a:p>
        </p:txBody>
      </p:sp>
      <p:sp>
        <p:nvSpPr>
          <p:cNvPr id="239" name="Google Shape;239;p34"/>
          <p:cNvSpPr/>
          <p:nvPr/>
        </p:nvSpPr>
        <p:spPr>
          <a:xfrm>
            <a:off x="1027658" y="1817787"/>
            <a:ext cx="3455714" cy="45362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Groups related data fields into a single coherent unit for organized data management</a:t>
            </a:r>
            <a:endParaRPr b="0" i="0" sz="1100" u="none" cap="none" strike="noStrike"/>
          </a:p>
        </p:txBody>
      </p:sp>
      <p:pic>
        <p:nvPicPr>
          <p:cNvPr descr="preencoded.png" id="240" name="Google Shape;240;p34"/>
          <p:cNvPicPr preferRelativeResize="0"/>
          <p:nvPr/>
        </p:nvPicPr>
        <p:blipFill rotWithShape="1">
          <a:blip r:embed="rId3">
            <a:alphaModFix/>
          </a:blip>
          <a:srcRect b="0" l="0" r="0" t="0"/>
          <a:stretch/>
        </p:blipFill>
        <p:spPr>
          <a:xfrm>
            <a:off x="4660552" y="1511275"/>
            <a:ext cx="354360" cy="354360"/>
          </a:xfrm>
          <a:prstGeom prst="rect">
            <a:avLst/>
          </a:prstGeom>
          <a:noFill/>
          <a:ln>
            <a:noFill/>
          </a:ln>
        </p:spPr>
      </p:pic>
      <p:sp>
        <p:nvSpPr>
          <p:cNvPr id="241" name="Google Shape;241;p34"/>
          <p:cNvSpPr/>
          <p:nvPr/>
        </p:nvSpPr>
        <p:spPr>
          <a:xfrm>
            <a:off x="5192093" y="1511275"/>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Arrays</a:t>
            </a:r>
            <a:endParaRPr b="0" i="0" sz="1400" u="none" cap="none" strike="noStrike"/>
          </a:p>
        </p:txBody>
      </p:sp>
      <p:sp>
        <p:nvSpPr>
          <p:cNvPr id="242" name="Google Shape;242;p34"/>
          <p:cNvSpPr/>
          <p:nvPr/>
        </p:nvSpPr>
        <p:spPr>
          <a:xfrm>
            <a:off x="5192092" y="1817787"/>
            <a:ext cx="3455789" cy="45362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Stores multiple vehicle records efficiently using indexed access</a:t>
            </a:r>
            <a:endParaRPr b="0" i="0" sz="1100" u="none" cap="none" strike="noStrike"/>
          </a:p>
        </p:txBody>
      </p:sp>
      <p:pic>
        <p:nvPicPr>
          <p:cNvPr descr="preencoded.png" id="243" name="Google Shape;243;p34"/>
          <p:cNvPicPr preferRelativeResize="0"/>
          <p:nvPr/>
        </p:nvPicPr>
        <p:blipFill rotWithShape="1">
          <a:blip r:embed="rId3">
            <a:alphaModFix/>
          </a:blip>
          <a:srcRect b="0" l="0" r="0" t="0"/>
          <a:stretch/>
        </p:blipFill>
        <p:spPr>
          <a:xfrm>
            <a:off x="496119" y="2554932"/>
            <a:ext cx="354360" cy="354360"/>
          </a:xfrm>
          <a:prstGeom prst="rect">
            <a:avLst/>
          </a:prstGeom>
          <a:noFill/>
          <a:ln>
            <a:noFill/>
          </a:ln>
        </p:spPr>
      </p:pic>
      <p:sp>
        <p:nvSpPr>
          <p:cNvPr id="244" name="Google Shape;244;p34"/>
          <p:cNvSpPr/>
          <p:nvPr/>
        </p:nvSpPr>
        <p:spPr>
          <a:xfrm>
            <a:off x="1027658" y="2554932"/>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Functions</a:t>
            </a:r>
            <a:endParaRPr b="0" i="0" sz="1400" u="none" cap="none" strike="noStrike"/>
          </a:p>
        </p:txBody>
      </p:sp>
      <p:sp>
        <p:nvSpPr>
          <p:cNvPr id="245" name="Google Shape;245;p34"/>
          <p:cNvSpPr/>
          <p:nvPr/>
        </p:nvSpPr>
        <p:spPr>
          <a:xfrm>
            <a:off x="1027658" y="2861444"/>
            <a:ext cx="3455714" cy="45362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Breaks program into modular, reusable components for maintainability</a:t>
            </a:r>
            <a:endParaRPr b="0" i="0" sz="1100" u="none" cap="none" strike="noStrike"/>
          </a:p>
        </p:txBody>
      </p:sp>
      <p:pic>
        <p:nvPicPr>
          <p:cNvPr descr="preencoded.png" id="246" name="Google Shape;246;p34"/>
          <p:cNvPicPr preferRelativeResize="0"/>
          <p:nvPr/>
        </p:nvPicPr>
        <p:blipFill rotWithShape="1">
          <a:blip r:embed="rId3">
            <a:alphaModFix/>
          </a:blip>
          <a:srcRect b="0" l="0" r="0" t="0"/>
          <a:stretch/>
        </p:blipFill>
        <p:spPr>
          <a:xfrm>
            <a:off x="4660552" y="2554932"/>
            <a:ext cx="354360" cy="354360"/>
          </a:xfrm>
          <a:prstGeom prst="rect">
            <a:avLst/>
          </a:prstGeom>
          <a:noFill/>
          <a:ln>
            <a:noFill/>
          </a:ln>
        </p:spPr>
      </p:pic>
      <p:sp>
        <p:nvSpPr>
          <p:cNvPr id="247" name="Google Shape;247;p34"/>
          <p:cNvSpPr/>
          <p:nvPr/>
        </p:nvSpPr>
        <p:spPr>
          <a:xfrm>
            <a:off x="5192093" y="2554932"/>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Loops</a:t>
            </a:r>
            <a:endParaRPr b="0" i="0" sz="1400" u="none" cap="none" strike="noStrike"/>
          </a:p>
        </p:txBody>
      </p:sp>
      <p:sp>
        <p:nvSpPr>
          <p:cNvPr id="248" name="Google Shape;248;p34"/>
          <p:cNvSpPr/>
          <p:nvPr/>
        </p:nvSpPr>
        <p:spPr>
          <a:xfrm>
            <a:off x="5192092" y="2861444"/>
            <a:ext cx="3455789" cy="45362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Iterates through array elements for searching and displaying data</a:t>
            </a:r>
            <a:endParaRPr b="0" i="0" sz="1100" u="none" cap="none" strike="noStrike"/>
          </a:p>
        </p:txBody>
      </p:sp>
      <p:pic>
        <p:nvPicPr>
          <p:cNvPr descr="preencoded.png" id="249" name="Google Shape;249;p34"/>
          <p:cNvPicPr preferRelativeResize="0"/>
          <p:nvPr/>
        </p:nvPicPr>
        <p:blipFill rotWithShape="1">
          <a:blip r:embed="rId3">
            <a:alphaModFix/>
          </a:blip>
          <a:srcRect b="0" l="0" r="0" t="0"/>
          <a:stretch/>
        </p:blipFill>
        <p:spPr>
          <a:xfrm>
            <a:off x="496119" y="3598589"/>
            <a:ext cx="354360" cy="354360"/>
          </a:xfrm>
          <a:prstGeom prst="rect">
            <a:avLst/>
          </a:prstGeom>
          <a:noFill/>
          <a:ln>
            <a:noFill/>
          </a:ln>
        </p:spPr>
      </p:pic>
      <p:sp>
        <p:nvSpPr>
          <p:cNvPr id="250" name="Google Shape;250;p34"/>
          <p:cNvSpPr/>
          <p:nvPr/>
        </p:nvSpPr>
        <p:spPr>
          <a:xfrm>
            <a:off x="1027658" y="3598589"/>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Conditionals</a:t>
            </a:r>
            <a:endParaRPr b="0" i="0" sz="1400" u="none" cap="none" strike="noStrike"/>
          </a:p>
        </p:txBody>
      </p:sp>
      <p:sp>
        <p:nvSpPr>
          <p:cNvPr id="251" name="Google Shape;251;p34"/>
          <p:cNvSpPr/>
          <p:nvPr/>
        </p:nvSpPr>
        <p:spPr>
          <a:xfrm>
            <a:off x="1027658" y="3905101"/>
            <a:ext cx="3455714" cy="45362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Controls program flow based on user input and data state</a:t>
            </a:r>
            <a:endParaRPr b="0" i="0" sz="1100" u="none" cap="none" strike="noStrike"/>
          </a:p>
        </p:txBody>
      </p:sp>
      <p:pic>
        <p:nvPicPr>
          <p:cNvPr descr="preencoded.png" id="252" name="Google Shape;252;p34"/>
          <p:cNvPicPr preferRelativeResize="0"/>
          <p:nvPr/>
        </p:nvPicPr>
        <p:blipFill rotWithShape="1">
          <a:blip r:embed="rId3">
            <a:alphaModFix/>
          </a:blip>
          <a:srcRect b="0" l="0" r="0" t="0"/>
          <a:stretch/>
        </p:blipFill>
        <p:spPr>
          <a:xfrm>
            <a:off x="4660552" y="3598589"/>
            <a:ext cx="354360" cy="354360"/>
          </a:xfrm>
          <a:prstGeom prst="rect">
            <a:avLst/>
          </a:prstGeom>
          <a:noFill/>
          <a:ln>
            <a:noFill/>
          </a:ln>
        </p:spPr>
      </p:pic>
      <p:sp>
        <p:nvSpPr>
          <p:cNvPr id="253" name="Google Shape;253;p34"/>
          <p:cNvSpPr/>
          <p:nvPr/>
        </p:nvSpPr>
        <p:spPr>
          <a:xfrm>
            <a:off x="5192093" y="3598589"/>
            <a:ext cx="1772022" cy="2214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400"/>
              <a:buFont typeface="Inter"/>
              <a:buNone/>
            </a:pPr>
            <a:r>
              <a:rPr b="1" i="0" lang="en" sz="1400" u="none" cap="none" strike="noStrike">
                <a:solidFill>
                  <a:srgbClr val="272525"/>
                </a:solidFill>
                <a:latin typeface="Inter"/>
                <a:ea typeface="Inter"/>
                <a:cs typeface="Inter"/>
                <a:sym typeface="Inter"/>
              </a:rPr>
              <a:t>Ternary Operator</a:t>
            </a:r>
            <a:endParaRPr b="0" i="0" sz="1400" u="none" cap="none" strike="noStrike"/>
          </a:p>
        </p:txBody>
      </p:sp>
      <p:sp>
        <p:nvSpPr>
          <p:cNvPr id="254" name="Google Shape;254;p34"/>
          <p:cNvSpPr/>
          <p:nvPr/>
        </p:nvSpPr>
        <p:spPr>
          <a:xfrm>
            <a:off x="5192092" y="3905101"/>
            <a:ext cx="3455789" cy="226814"/>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100"/>
              <a:buFont typeface="Inter"/>
              <a:buNone/>
            </a:pPr>
            <a:r>
              <a:rPr b="0" i="0" lang="en" sz="1100" u="none" cap="none" strike="noStrike">
                <a:solidFill>
                  <a:srgbClr val="272525"/>
                </a:solidFill>
                <a:latin typeface="Inter"/>
                <a:ea typeface="Inter"/>
                <a:cs typeface="Inter"/>
                <a:sym typeface="Inter"/>
              </a:rPr>
              <a:t>Simplifies conditional output with concise syntax</a:t>
            </a:r>
            <a:endParaRPr b="0" i="0" sz="1100" u="none" cap="none" strike="noStrike"/>
          </a:p>
        </p:txBody>
      </p:sp>
      <p:pic>
        <p:nvPicPr>
          <p:cNvPr id="255" name="Google Shape;255;p34"/>
          <p:cNvPicPr preferRelativeResize="0"/>
          <p:nvPr/>
        </p:nvPicPr>
        <p:blipFill>
          <a:blip r:embed="rId4">
            <a:alphaModFix/>
          </a:blip>
          <a:stretch>
            <a:fillRect/>
          </a:stretch>
        </p:blipFill>
        <p:spPr>
          <a:xfrm>
            <a:off x="7258051" y="4695825"/>
            <a:ext cx="1885950" cy="447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preencoded.png" id="261" name="Google Shape;261;p35"/>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262" name="Google Shape;262;p35"/>
          <p:cNvSpPr/>
          <p:nvPr/>
        </p:nvSpPr>
        <p:spPr>
          <a:xfrm>
            <a:off x="3866406" y="873621"/>
            <a:ext cx="4074989" cy="3905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000000"/>
              </a:buClr>
              <a:buSzPts val="2400"/>
              <a:buFont typeface="Inter"/>
              <a:buNone/>
            </a:pPr>
            <a:r>
              <a:rPr b="1" i="0" lang="en" sz="2400" u="none" cap="none" strike="noStrike">
                <a:solidFill>
                  <a:srgbClr val="000000"/>
                </a:solidFill>
                <a:latin typeface="Inter"/>
                <a:ea typeface="Inter"/>
                <a:cs typeface="Inter"/>
                <a:sym typeface="Inter"/>
              </a:rPr>
              <a:t>Limitations and Next Steps</a:t>
            </a:r>
            <a:endParaRPr b="0" i="0" sz="2400" u="none" cap="none" strike="noStrike"/>
          </a:p>
        </p:txBody>
      </p:sp>
      <p:sp>
        <p:nvSpPr>
          <p:cNvPr id="263" name="Google Shape;263;p35"/>
          <p:cNvSpPr/>
          <p:nvPr/>
        </p:nvSpPr>
        <p:spPr>
          <a:xfrm>
            <a:off x="3866406" y="1539552"/>
            <a:ext cx="1874788" cy="234256"/>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000000"/>
              </a:buClr>
              <a:buSzPts val="1500"/>
              <a:buFont typeface="Inter"/>
              <a:buNone/>
            </a:pPr>
            <a:r>
              <a:rPr b="1" i="0" lang="en" sz="1500" u="none" cap="none" strike="noStrike">
                <a:solidFill>
                  <a:srgbClr val="000000"/>
                </a:solidFill>
                <a:latin typeface="Inter"/>
                <a:ea typeface="Inter"/>
                <a:cs typeface="Inter"/>
                <a:sym typeface="Inter"/>
              </a:rPr>
              <a:t>Current Limitations</a:t>
            </a:r>
            <a:endParaRPr b="0" i="0" sz="1500" u="none" cap="none" strike="noStrike"/>
          </a:p>
        </p:txBody>
      </p:sp>
      <p:sp>
        <p:nvSpPr>
          <p:cNvPr id="264" name="Google Shape;264;p35"/>
          <p:cNvSpPr/>
          <p:nvPr/>
        </p:nvSpPr>
        <p:spPr>
          <a:xfrm>
            <a:off x="3866406" y="1883941"/>
            <a:ext cx="2267620" cy="1471018"/>
          </a:xfrm>
          <a:prstGeom prst="rect">
            <a:avLst/>
          </a:prstGeom>
          <a:noFill/>
          <a:ln>
            <a:noFill/>
          </a:ln>
        </p:spPr>
        <p:txBody>
          <a:bodyPr anchorCtr="0" anchor="t" bIns="0" lIns="0" spcFirstLastPara="1" rIns="0" wrap="square" tIns="0">
            <a:noAutofit/>
          </a:bodyPr>
          <a:lstStyle/>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No file handling for permanent data storage</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Fixed array size limits to 100 vehicles</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No duplicate ID checking</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Limited input validation</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No error handling for invalid inputs</a:t>
            </a:r>
            <a:endParaRPr b="0" i="0" sz="1000" u="none" cap="none" strike="noStrike"/>
          </a:p>
        </p:txBody>
      </p:sp>
      <p:sp>
        <p:nvSpPr>
          <p:cNvPr id="265" name="Google Shape;265;p35"/>
          <p:cNvSpPr/>
          <p:nvPr/>
        </p:nvSpPr>
        <p:spPr>
          <a:xfrm>
            <a:off x="6577524" y="1487252"/>
            <a:ext cx="2000100" cy="234300"/>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000000"/>
              </a:buClr>
              <a:buSzPts val="1500"/>
              <a:buFont typeface="Inter"/>
              <a:buNone/>
            </a:pPr>
            <a:r>
              <a:rPr b="1" i="0" lang="en" sz="1500" u="none" cap="none" strike="noStrike">
                <a:solidFill>
                  <a:srgbClr val="000000"/>
                </a:solidFill>
                <a:latin typeface="Inter"/>
                <a:ea typeface="Inter"/>
                <a:cs typeface="Inter"/>
                <a:sym typeface="Inter"/>
              </a:rPr>
              <a:t>Future Enhancements</a:t>
            </a:r>
            <a:endParaRPr b="0" i="0" sz="1500" u="none" cap="none" strike="noStrike"/>
          </a:p>
        </p:txBody>
      </p:sp>
      <p:sp>
        <p:nvSpPr>
          <p:cNvPr id="266" name="Google Shape;266;p35"/>
          <p:cNvSpPr/>
          <p:nvPr/>
        </p:nvSpPr>
        <p:spPr>
          <a:xfrm>
            <a:off x="6385012" y="2046391"/>
            <a:ext cx="2267700" cy="1659000"/>
          </a:xfrm>
          <a:prstGeom prst="rect">
            <a:avLst/>
          </a:prstGeom>
          <a:noFill/>
          <a:ln>
            <a:noFill/>
          </a:ln>
        </p:spPr>
        <p:txBody>
          <a:bodyPr anchorCtr="0" anchor="t" bIns="0" lIns="0" spcFirstLastPara="1" rIns="0" wrap="square" tIns="0">
            <a:noAutofit/>
          </a:bodyPr>
          <a:lstStyle/>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Add file I/O for data persistence</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Implement dynamic memory allocation</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Add input validation and error handling</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Include duplicate ID prevention</a:t>
            </a:r>
            <a:endParaRPr b="0" i="0" sz="1000" u="none" cap="none" strike="noStrike"/>
          </a:p>
          <a:p>
            <a:pPr indent="-215900" lvl="0" marL="215900" marR="0" rtl="0" algn="l">
              <a:lnSpc>
                <a:spcPct val="151612"/>
              </a:lnSpc>
              <a:spcBef>
                <a:spcPts val="0"/>
              </a:spcBef>
              <a:spcAft>
                <a:spcPts val="0"/>
              </a:spcAft>
              <a:buClr>
                <a:srgbClr val="272525"/>
              </a:buClr>
              <a:buSzPts val="1000"/>
              <a:buFont typeface="Inter"/>
              <a:buChar char="•"/>
            </a:pPr>
            <a:r>
              <a:rPr b="0" i="0" lang="en" sz="1000" u="none" cap="none" strike="noStrike">
                <a:solidFill>
                  <a:srgbClr val="272525"/>
                </a:solidFill>
                <a:latin typeface="Inter"/>
                <a:ea typeface="Inter"/>
                <a:cs typeface="Inter"/>
                <a:sym typeface="Inter"/>
              </a:rPr>
              <a:t>Expand with additional features like customer tracking</a:t>
            </a:r>
            <a:endParaRPr b="0" i="0" sz="1000" u="none" cap="none" strike="noStrike"/>
          </a:p>
        </p:txBody>
      </p:sp>
      <p:sp>
        <p:nvSpPr>
          <p:cNvPr id="267" name="Google Shape;267;p35"/>
          <p:cNvSpPr/>
          <p:nvPr/>
        </p:nvSpPr>
        <p:spPr>
          <a:xfrm>
            <a:off x="3866406" y="3918435"/>
            <a:ext cx="4840200" cy="5643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272525"/>
              </a:buClr>
              <a:buSzPts val="1000"/>
              <a:buFont typeface="Inter"/>
              <a:buNone/>
            </a:pPr>
            <a:r>
              <a:rPr b="0" i="0" lang="en" sz="1000" u="none" cap="none" strike="noStrike">
                <a:solidFill>
                  <a:srgbClr val="272525"/>
                </a:solidFill>
                <a:latin typeface="Inter"/>
                <a:ea typeface="Inter"/>
                <a:cs typeface="Inter"/>
                <a:sym typeface="Inter"/>
              </a:rPr>
              <a:t>This program serves as an excellent foundation for learning C programming concepts. By addressing its limitations, you can advance to more sophisticated, production-ready applications.</a:t>
            </a:r>
            <a:endParaRPr b="0" i="0" sz="1000" u="none" cap="none" strike="noStrike"/>
          </a:p>
        </p:txBody>
      </p:sp>
      <p:pic>
        <p:nvPicPr>
          <p:cNvPr id="268" name="Google Shape;268;p35"/>
          <p:cNvPicPr preferRelativeResize="0"/>
          <p:nvPr/>
        </p:nvPicPr>
        <p:blipFill>
          <a:blip r:embed="rId4">
            <a:alphaModFix/>
          </a:blip>
          <a:stretch>
            <a:fillRect/>
          </a:stretch>
        </p:blipFill>
        <p:spPr>
          <a:xfrm>
            <a:off x="7258051" y="4695825"/>
            <a:ext cx="1885950" cy="447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p:nvPr/>
        </p:nvSpPr>
        <p:spPr>
          <a:xfrm>
            <a:off x="2799904" y="2350219"/>
            <a:ext cx="3544119" cy="442987"/>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000000"/>
              </a:buClr>
              <a:buSzPts val="2800"/>
              <a:buFont typeface="Inter"/>
              <a:buNone/>
            </a:pPr>
            <a:r>
              <a:rPr b="1" i="0" lang="en" sz="2800" u="none" cap="none" strike="noStrike">
                <a:solidFill>
                  <a:srgbClr val="000000"/>
                </a:solidFill>
                <a:latin typeface="Inter"/>
                <a:ea typeface="Inter"/>
                <a:cs typeface="Inter"/>
                <a:sym typeface="Inter"/>
              </a:rPr>
              <a:t>Thank You</a:t>
            </a:r>
            <a:endParaRPr b="0" i="0" sz="2800" u="none" cap="none" strike="noStrike"/>
          </a:p>
        </p:txBody>
      </p:sp>
      <p:pic>
        <p:nvPicPr>
          <p:cNvPr id="275" name="Google Shape;275;p36"/>
          <p:cNvPicPr preferRelativeResize="0"/>
          <p:nvPr/>
        </p:nvPicPr>
        <p:blipFill>
          <a:blip r:embed="rId3">
            <a:alphaModFix/>
          </a:blip>
          <a:stretch>
            <a:fillRect/>
          </a:stretch>
        </p:blipFill>
        <p:spPr>
          <a:xfrm>
            <a:off x="7258051" y="4695825"/>
            <a:ext cx="1885950" cy="447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